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4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5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6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7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8.xml" ContentType="application/vnd.openxmlformats-officedocument.presentationml.notesSlide+xml"/>
  <Override PartName="/ppt/tags/tag94.xml" ContentType="application/vnd.openxmlformats-officedocument.presentationml.tags+xml"/>
  <Override PartName="/ppt/notesSlides/notesSlide9.xml" ContentType="application/vnd.openxmlformats-officedocument.presentationml.notesSlide+xml"/>
  <Override PartName="/ppt/tags/tag95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2" r:id="rId4"/>
    <p:sldId id="266" r:id="rId5"/>
    <p:sldId id="275" r:id="rId6"/>
    <p:sldId id="268" r:id="rId7"/>
    <p:sldId id="281" r:id="rId8"/>
    <p:sldId id="272" r:id="rId9"/>
    <p:sldId id="280" r:id="rId10"/>
    <p:sldId id="278" r:id="rId11"/>
    <p:sldId id="274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82" userDrawn="1">
          <p15:clr>
            <a:srgbClr val="A4A3A4"/>
          </p15:clr>
        </p15:guide>
        <p15:guide id="2" pos="3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4D4"/>
    <a:srgbClr val="1C4885"/>
    <a:srgbClr val="20B3A1"/>
    <a:srgbClr val="D6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91" autoAdjust="0"/>
    <p:restoredTop sz="96314" autoAdjust="0"/>
  </p:normalViewPr>
  <p:slideViewPr>
    <p:cSldViewPr snapToGrid="0" showGuides="1">
      <p:cViewPr varScale="1">
        <p:scale>
          <a:sx n="100" d="100"/>
          <a:sy n="100" d="100"/>
        </p:scale>
        <p:origin x="56" y="284"/>
      </p:cViewPr>
      <p:guideLst>
        <p:guide orient="horz" pos="1182"/>
        <p:guide pos="37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46" d="100"/>
          <a:sy n="46" d="100"/>
        </p:scale>
        <p:origin x="265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B725A-BFDD-44D0-A8D3-61766B07B7F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C932-0C1F-4C94-8B9A-3944ABBB4E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EE7A9-B51B-C21A-867D-F1C2A929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B33274-6BEA-03E6-63BE-828394765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B20E9B-0DAA-B651-AFA4-A87C7136B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B27174-F4B1-6C16-7416-9995FF0131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100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EECFE-6087-ECB9-7B95-52D054531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DFED13-EE1F-0164-AF61-71E591B86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6142E3-F9D8-C431-BD0C-807E75F0D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1FC8A3-4873-159D-2B1D-305DA566E0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925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A4CAC-3845-D19F-CFAF-286DD1458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82A89C-759B-CCA2-57CB-9330817B3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881828-9020-B535-AAE1-8B6C9D5A7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779959-6480-0503-B430-92918A55C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272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8325228" y="4544096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6F278-ABF0-48CA-ADF0-1D43CCA8A18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5.xml"/><Relationship Id="rId9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3" Type="http://schemas.openxmlformats.org/officeDocument/2006/relationships/tags" Target="../tags/tag12.xml"/><Relationship Id="rId21" Type="http://schemas.openxmlformats.org/officeDocument/2006/relationships/image" Target="../media/image2.jpeg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notesSlide" Target="../notesSlides/notesSlide3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10" Type="http://schemas.openxmlformats.org/officeDocument/2006/relationships/tags" Target="../tags/tag19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18" Type="http://schemas.openxmlformats.org/officeDocument/2006/relationships/notesSlide" Target="../notesSlides/notesSlide4.xml"/><Relationship Id="rId3" Type="http://schemas.openxmlformats.org/officeDocument/2006/relationships/tags" Target="../tags/tag30.xml"/><Relationship Id="rId21" Type="http://schemas.openxmlformats.org/officeDocument/2006/relationships/image" Target="../media/image5.png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6" Type="http://schemas.openxmlformats.org/officeDocument/2006/relationships/tags" Target="../tags/tag43.xml"/><Relationship Id="rId20" Type="http://schemas.openxmlformats.org/officeDocument/2006/relationships/image" Target="../media/image4.png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5" Type="http://schemas.openxmlformats.org/officeDocument/2006/relationships/tags" Target="../tags/tag42.xml"/><Relationship Id="rId23" Type="http://schemas.openxmlformats.org/officeDocument/2006/relationships/image" Target="../media/image1.png"/><Relationship Id="rId10" Type="http://schemas.openxmlformats.org/officeDocument/2006/relationships/tags" Target="../tags/tag37.xml"/><Relationship Id="rId19" Type="http://schemas.openxmlformats.org/officeDocument/2006/relationships/image" Target="../media/image3.png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Relationship Id="rId22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tags" Target="../tags/tag56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2" Type="http://schemas.openxmlformats.org/officeDocument/2006/relationships/tags" Target="../tags/tag45.xml"/><Relationship Id="rId16" Type="http://schemas.openxmlformats.org/officeDocument/2006/relationships/image" Target="../media/image1.png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5" Type="http://schemas.openxmlformats.org/officeDocument/2006/relationships/tags" Target="../tags/tag48.xml"/><Relationship Id="rId15" Type="http://schemas.openxmlformats.org/officeDocument/2006/relationships/notesSlide" Target="../notesSlides/notesSlide5.xml"/><Relationship Id="rId10" Type="http://schemas.openxmlformats.org/officeDocument/2006/relationships/tags" Target="../tags/tag53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5" Type="http://schemas.openxmlformats.org/officeDocument/2006/relationships/image" Target="../media/image1.png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image" Target="../media/image1.png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notesSlide" Target="../notesSlides/notesSlide7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73.xml"/><Relationship Id="rId15" Type="http://schemas.openxmlformats.org/officeDocument/2006/relationships/image" Target="../media/image8.png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13" Type="http://schemas.openxmlformats.org/officeDocument/2006/relationships/tags" Target="../tags/tag91.xml"/><Relationship Id="rId18" Type="http://schemas.openxmlformats.org/officeDocument/2006/relationships/image" Target="../media/image1.png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tags" Target="../tags/tag90.xml"/><Relationship Id="rId17" Type="http://schemas.openxmlformats.org/officeDocument/2006/relationships/notesSlide" Target="../notesSlides/notesSlide8.xml"/><Relationship Id="rId2" Type="http://schemas.openxmlformats.org/officeDocument/2006/relationships/tags" Target="../tags/tag80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tags" Target="../tags/tag89.xml"/><Relationship Id="rId5" Type="http://schemas.openxmlformats.org/officeDocument/2006/relationships/tags" Target="../tags/tag83.xml"/><Relationship Id="rId15" Type="http://schemas.openxmlformats.org/officeDocument/2006/relationships/tags" Target="../tags/tag93.xml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Relationship Id="rId14" Type="http://schemas.openxmlformats.org/officeDocument/2006/relationships/tags" Target="../tags/tag9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5805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984658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03122" y="294968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556385" y="2592070"/>
            <a:ext cx="97205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rgbClr val="1C488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低启动风速智能风力发电机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528253" y="4707623"/>
            <a:ext cx="513549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汇报人：李彦成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倪嘉驿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丁姵姵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王振伟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    </a:t>
            </a:r>
          </a:p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汇报时间：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2026.3.20</a:t>
            </a:r>
            <a:endParaRPr lang="zh-CN" altLang="en-US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675" y="880745"/>
            <a:ext cx="2645410" cy="11093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88709" y="5737122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5804" y="294968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08282" y="1533116"/>
            <a:ext cx="2325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dirty="0">
                <a:solidFill>
                  <a:srgbClr val="1C4885"/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08283" y="1152768"/>
            <a:ext cx="2325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000" dirty="0">
                <a:solidFill>
                  <a:srgbClr val="1C4885"/>
                </a:solidFill>
                <a:cs typeface="+mn-ea"/>
                <a:sym typeface="+mn-lt"/>
              </a:rPr>
              <a:t>CONTENT</a:t>
            </a:r>
            <a:endParaRPr lang="zh-CN" altLang="en-US" sz="2000" dirty="0">
              <a:solidFill>
                <a:srgbClr val="1C4885"/>
              </a:solidFill>
              <a:cs typeface="+mn-ea"/>
              <a:sym typeface="+mn-lt"/>
            </a:endParaRPr>
          </a:p>
        </p:txBody>
      </p:sp>
      <p:sp>
        <p:nvSpPr>
          <p:cNvPr id="9" name="椭圆 8"/>
          <p:cNvSpPr/>
          <p:nvPr>
            <p:custDataLst>
              <p:tags r:id="rId1"/>
            </p:custDataLst>
          </p:nvPr>
        </p:nvSpPr>
        <p:spPr>
          <a:xfrm>
            <a:off x="1908283" y="3112512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sz="1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672779" y="3105175"/>
            <a:ext cx="3701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1C4885"/>
                </a:solidFill>
                <a:cs typeface="+mn-ea"/>
                <a:sym typeface="+mn-lt"/>
              </a:rPr>
              <a:t>研究背景及意义</a:t>
            </a:r>
          </a:p>
        </p:txBody>
      </p:sp>
      <p:sp>
        <p:nvSpPr>
          <p:cNvPr id="12" name="椭圆 11"/>
          <p:cNvSpPr/>
          <p:nvPr>
            <p:custDataLst>
              <p:tags r:id="rId3"/>
            </p:custDataLst>
          </p:nvPr>
        </p:nvSpPr>
        <p:spPr>
          <a:xfrm>
            <a:off x="6495346" y="3112512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sz="1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7259842" y="3105175"/>
            <a:ext cx="3701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1C4885"/>
                </a:solidFill>
                <a:cs typeface="+mn-ea"/>
                <a:sym typeface="+mn-lt"/>
              </a:rPr>
              <a:t>研究内容及假设</a:t>
            </a:r>
          </a:p>
        </p:txBody>
      </p:sp>
      <p:sp>
        <p:nvSpPr>
          <p:cNvPr id="15" name="椭圆 14"/>
          <p:cNvSpPr/>
          <p:nvPr>
            <p:custDataLst>
              <p:tags r:id="rId5"/>
            </p:custDataLst>
          </p:nvPr>
        </p:nvSpPr>
        <p:spPr>
          <a:xfrm>
            <a:off x="1908283" y="4355250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sz="1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2672779" y="4347913"/>
            <a:ext cx="3701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1C4885"/>
                </a:solidFill>
                <a:cs typeface="+mn-ea"/>
                <a:sym typeface="+mn-lt"/>
              </a:rPr>
              <a:t>研究内容创新点</a:t>
            </a:r>
          </a:p>
        </p:txBody>
      </p:sp>
      <p:sp>
        <p:nvSpPr>
          <p:cNvPr id="18" name="椭圆 17"/>
          <p:cNvSpPr/>
          <p:nvPr>
            <p:custDataLst>
              <p:tags r:id="rId7"/>
            </p:custDataLst>
          </p:nvPr>
        </p:nvSpPr>
        <p:spPr>
          <a:xfrm>
            <a:off x="6495346" y="4355250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zh-CN" altLang="en-US" sz="1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7259842" y="4347913"/>
            <a:ext cx="3701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1C4885"/>
                </a:solidFill>
                <a:cs typeface="+mn-ea"/>
                <a:sym typeface="+mn-lt"/>
              </a:rPr>
              <a:t>项目预计目标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0240" y="505460"/>
            <a:ext cx="3086735" cy="5353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研究背景及意义</a:t>
            </a:r>
          </a:p>
          <a:p>
            <a:pPr algn="ctr"/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>
            <p:custDataLst>
              <p:tags r:id="rId1"/>
            </p:custDataLst>
          </p:nvPr>
        </p:nvGrpSpPr>
        <p:grpSpPr>
          <a:xfrm>
            <a:off x="6170063" y="1258632"/>
            <a:ext cx="1516641" cy="1100396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28" name="矩形 27"/>
            <p:cNvSpPr/>
            <p:nvPr>
              <p:custDataLst>
                <p:tags r:id="rId17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8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1" name="矩形 30"/>
          <p:cNvSpPr/>
          <p:nvPr>
            <p:custDataLst>
              <p:tags r:id="rId2"/>
            </p:custDataLst>
          </p:nvPr>
        </p:nvSpPr>
        <p:spPr>
          <a:xfrm>
            <a:off x="6303499" y="1374030"/>
            <a:ext cx="5390660" cy="12804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矩形 31"/>
          <p:cNvSpPr/>
          <p:nvPr>
            <p:custDataLst>
              <p:tags r:id="rId3"/>
            </p:custDataLst>
          </p:nvPr>
        </p:nvSpPr>
        <p:spPr>
          <a:xfrm>
            <a:off x="6303499" y="2946762"/>
            <a:ext cx="5390660" cy="12804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矩形 32"/>
          <p:cNvSpPr/>
          <p:nvPr>
            <p:custDataLst>
              <p:tags r:id="rId4"/>
            </p:custDataLst>
          </p:nvPr>
        </p:nvSpPr>
        <p:spPr>
          <a:xfrm>
            <a:off x="6303499" y="4519496"/>
            <a:ext cx="5390660" cy="12804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5"/>
            </p:custDataLst>
          </p:nvPr>
        </p:nvGrpSpPr>
        <p:grpSpPr>
          <a:xfrm>
            <a:off x="6170063" y="2831272"/>
            <a:ext cx="1516641" cy="1100396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5" name="矩形 34"/>
            <p:cNvSpPr/>
            <p:nvPr>
              <p:custDataLst>
                <p:tags r:id="rId15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矩形 35"/>
            <p:cNvSpPr/>
            <p:nvPr>
              <p:custDataLst>
                <p:tags r:id="rId16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6"/>
            </p:custDataLst>
          </p:nvPr>
        </p:nvGrpSpPr>
        <p:grpSpPr>
          <a:xfrm>
            <a:off x="6170063" y="4410309"/>
            <a:ext cx="1516641" cy="1100396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8" name="矩形 37"/>
            <p:cNvSpPr/>
            <p:nvPr>
              <p:custDataLst>
                <p:tags r:id="rId13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矩形 38"/>
            <p:cNvSpPr/>
            <p:nvPr>
              <p:custDataLst>
                <p:tags r:id="rId14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40" name="文本框 39"/>
          <p:cNvSpPr txBox="1"/>
          <p:nvPr>
            <p:custDataLst>
              <p:tags r:id="rId7"/>
            </p:custDataLst>
          </p:nvPr>
        </p:nvSpPr>
        <p:spPr>
          <a:xfrm>
            <a:off x="6436938" y="1600230"/>
            <a:ext cx="1149161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01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>
            <p:custDataLst>
              <p:tags r:id="rId8"/>
            </p:custDataLst>
          </p:nvPr>
        </p:nvSpPr>
        <p:spPr>
          <a:xfrm>
            <a:off x="6436938" y="3193032"/>
            <a:ext cx="1149161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02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2" name="文本框 41"/>
          <p:cNvSpPr txBox="1"/>
          <p:nvPr>
            <p:custDataLst>
              <p:tags r:id="rId9"/>
            </p:custDataLst>
          </p:nvPr>
        </p:nvSpPr>
        <p:spPr>
          <a:xfrm>
            <a:off x="6436938" y="4747872"/>
            <a:ext cx="1149161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03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>
            <p:custDataLst>
              <p:tags r:id="rId10"/>
            </p:custDataLst>
          </p:nvPr>
        </p:nvSpPr>
        <p:spPr>
          <a:xfrm>
            <a:off x="7586099" y="1605743"/>
            <a:ext cx="3621289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风能是未来能源的核心支柱，正成为实现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双碳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目标的关键力量。但传统利用方法（大型风机）受限于选址，且在低风速下启动难、发电不稳</a:t>
            </a:r>
          </a:p>
        </p:txBody>
      </p:sp>
      <p:sp>
        <p:nvSpPr>
          <p:cNvPr id="44" name="文本框 43"/>
          <p:cNvSpPr txBox="1"/>
          <p:nvPr>
            <p:custDataLst>
              <p:tags r:id="rId11"/>
            </p:custDataLst>
          </p:nvPr>
        </p:nvSpPr>
        <p:spPr>
          <a:xfrm>
            <a:off x="7686528" y="3123344"/>
            <a:ext cx="351522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低风速资源的存在巨大浪费，全球大量地区常年处于中低风速环境，海量微弱风能资源被闲置</a:t>
            </a:r>
          </a:p>
        </p:txBody>
      </p:sp>
      <p:sp>
        <p:nvSpPr>
          <p:cNvPr id="45" name="文本框 44"/>
          <p:cNvSpPr txBox="1"/>
          <p:nvPr>
            <p:custDataLst>
              <p:tags r:id="rId12"/>
            </p:custDataLst>
          </p:nvPr>
        </p:nvSpPr>
        <p:spPr>
          <a:xfrm>
            <a:off x="7719427" y="4689008"/>
            <a:ext cx="352377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本项目旨在将废弃的微弱风能转化为稳定电力，扩展场景，让风电走进城市与偏远地区；提升效益，更全面利用风能发电</a:t>
            </a:r>
          </a:p>
        </p:txBody>
      </p:sp>
      <p:pic>
        <p:nvPicPr>
          <p:cNvPr id="8" name="图片 7" descr="D:/c3836175f4fb08f0dd5726a25a9f1ccd.jpegc3836175f4fb08f0dd5726a25a9f1ccd"/>
          <p:cNvPicPr>
            <a:picLocks noChangeAspect="1"/>
          </p:cNvPicPr>
          <p:nvPr/>
        </p:nvPicPr>
        <p:blipFill>
          <a:blip r:embed="rId21"/>
          <a:srcRect t="24983" b="24983"/>
          <a:stretch>
            <a:fillRect/>
          </a:stretch>
        </p:blipFill>
        <p:spPr>
          <a:xfrm>
            <a:off x="1097915" y="1997710"/>
            <a:ext cx="4725035" cy="315023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04013" y="512162"/>
            <a:ext cx="253845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研究内容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/>
          <p:cNvSpPr/>
          <p:nvPr>
            <p:custDataLst>
              <p:tags r:id="rId1"/>
            </p:custDataLst>
          </p:nvPr>
        </p:nvSpPr>
        <p:spPr>
          <a:xfrm rot="2700000">
            <a:off x="4633834" y="1982174"/>
            <a:ext cx="1578077" cy="1578077"/>
          </a:xfrm>
          <a:prstGeom prst="ellipse">
            <a:avLst/>
          </a:prstGeom>
          <a:solidFill>
            <a:srgbClr val="1C4885"/>
          </a:solidFill>
          <a:ln w="508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 rot="2700000">
            <a:off x="4633834" y="3329212"/>
            <a:ext cx="1578077" cy="1578077"/>
          </a:xfrm>
          <a:prstGeom prst="ellipse">
            <a:avLst/>
          </a:prstGeom>
          <a:solidFill>
            <a:srgbClr val="1C4885"/>
          </a:solidFill>
          <a:ln w="508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任意多边形 9"/>
          <p:cNvSpPr/>
          <p:nvPr>
            <p:custDataLst>
              <p:tags r:id="rId3"/>
            </p:custDataLst>
          </p:nvPr>
        </p:nvSpPr>
        <p:spPr>
          <a:xfrm rot="2700000">
            <a:off x="5980871" y="3329211"/>
            <a:ext cx="1578078" cy="1578078"/>
          </a:xfrm>
          <a:custGeom>
            <a:avLst/>
            <a:gdLst>
              <a:gd name="connsiteX0" fmla="*/ 600331 w 1578078"/>
              <a:gd name="connsiteY0" fmla="*/ 25247 h 1578078"/>
              <a:gd name="connsiteX1" fmla="*/ 630020 w 1578078"/>
              <a:gd name="connsiteY1" fmla="*/ 16030 h 1578078"/>
              <a:gd name="connsiteX2" fmla="*/ 789039 w 1578078"/>
              <a:gd name="connsiteY2" fmla="*/ 0 h 1578078"/>
              <a:gd name="connsiteX3" fmla="*/ 1578078 w 1578078"/>
              <a:gd name="connsiteY3" fmla="*/ 789039 h 1578078"/>
              <a:gd name="connsiteX4" fmla="*/ 789039 w 1578078"/>
              <a:gd name="connsiteY4" fmla="*/ 1578078 h 1578078"/>
              <a:gd name="connsiteX5" fmla="*/ 0 w 1578078"/>
              <a:gd name="connsiteY5" fmla="*/ 789039 h 1578078"/>
              <a:gd name="connsiteX6" fmla="*/ 16031 w 1578078"/>
              <a:gd name="connsiteY6" fmla="*/ 630020 h 1578078"/>
              <a:gd name="connsiteX7" fmla="*/ 25247 w 1578078"/>
              <a:gd name="connsiteY7" fmla="*/ 600331 h 1578078"/>
              <a:gd name="connsiteX8" fmla="*/ 143668 w 1578078"/>
              <a:gd name="connsiteY8" fmla="*/ 563571 h 1578078"/>
              <a:gd name="connsiteX9" fmla="*/ 563570 w 1578078"/>
              <a:gd name="connsiteY9" fmla="*/ 143669 h 157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8078" h="1578078">
                <a:moveTo>
                  <a:pt x="600331" y="25247"/>
                </a:moveTo>
                <a:lnTo>
                  <a:pt x="630020" y="16030"/>
                </a:lnTo>
                <a:cubicBezTo>
                  <a:pt x="681385" y="5520"/>
                  <a:pt x="734567" y="0"/>
                  <a:pt x="789039" y="0"/>
                </a:cubicBezTo>
                <a:cubicBezTo>
                  <a:pt x="1224813" y="0"/>
                  <a:pt x="1578078" y="353265"/>
                  <a:pt x="1578078" y="789039"/>
                </a:cubicBezTo>
                <a:cubicBezTo>
                  <a:pt x="1578078" y="1224813"/>
                  <a:pt x="1224813" y="1578078"/>
                  <a:pt x="789039" y="1578078"/>
                </a:cubicBezTo>
                <a:cubicBezTo>
                  <a:pt x="353265" y="1578078"/>
                  <a:pt x="0" y="1224813"/>
                  <a:pt x="0" y="789039"/>
                </a:cubicBezTo>
                <a:cubicBezTo>
                  <a:pt x="0" y="734567"/>
                  <a:pt x="5520" y="681385"/>
                  <a:pt x="16031" y="630020"/>
                </a:cubicBezTo>
                <a:lnTo>
                  <a:pt x="25247" y="600331"/>
                </a:lnTo>
                <a:lnTo>
                  <a:pt x="143668" y="563571"/>
                </a:lnTo>
                <a:cubicBezTo>
                  <a:pt x="332466" y="483716"/>
                  <a:pt x="483715" y="332467"/>
                  <a:pt x="563570" y="143669"/>
                </a:cubicBezTo>
                <a:close/>
              </a:path>
            </a:pathLst>
          </a:custGeom>
          <a:solidFill>
            <a:srgbClr val="1C4885"/>
          </a:solidFill>
          <a:ln w="508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2700000">
            <a:off x="5980871" y="1982173"/>
            <a:ext cx="1578078" cy="1578078"/>
          </a:xfrm>
          <a:custGeom>
            <a:avLst/>
            <a:gdLst>
              <a:gd name="connsiteX0" fmla="*/ 231104 w 1578078"/>
              <a:gd name="connsiteY0" fmla="*/ 231104 h 1578078"/>
              <a:gd name="connsiteX1" fmla="*/ 789039 w 1578078"/>
              <a:gd name="connsiteY1" fmla="*/ 0 h 1578078"/>
              <a:gd name="connsiteX2" fmla="*/ 1578078 w 1578078"/>
              <a:gd name="connsiteY2" fmla="*/ 789039 h 1578078"/>
              <a:gd name="connsiteX3" fmla="*/ 789039 w 1578078"/>
              <a:gd name="connsiteY3" fmla="*/ 1578078 h 1578078"/>
              <a:gd name="connsiteX4" fmla="*/ 630020 w 1578078"/>
              <a:gd name="connsiteY4" fmla="*/ 1562047 h 1578078"/>
              <a:gd name="connsiteX5" fmla="*/ 600332 w 1578078"/>
              <a:gd name="connsiteY5" fmla="*/ 1552832 h 1578078"/>
              <a:gd name="connsiteX6" fmla="*/ 563572 w 1578078"/>
              <a:gd name="connsiteY6" fmla="*/ 1434409 h 1578078"/>
              <a:gd name="connsiteX7" fmla="*/ 143669 w 1578078"/>
              <a:gd name="connsiteY7" fmla="*/ 1014506 h 1578078"/>
              <a:gd name="connsiteX8" fmla="*/ 25246 w 1578078"/>
              <a:gd name="connsiteY8" fmla="*/ 977746 h 1578078"/>
              <a:gd name="connsiteX9" fmla="*/ 16031 w 1578078"/>
              <a:gd name="connsiteY9" fmla="*/ 948058 h 1578078"/>
              <a:gd name="connsiteX10" fmla="*/ 0 w 1578078"/>
              <a:gd name="connsiteY10" fmla="*/ 789039 h 1578078"/>
              <a:gd name="connsiteX11" fmla="*/ 231104 w 1578078"/>
              <a:gd name="connsiteY11" fmla="*/ 231104 h 157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78078" h="1578078">
                <a:moveTo>
                  <a:pt x="231104" y="231104"/>
                </a:moveTo>
                <a:cubicBezTo>
                  <a:pt x="373892" y="88316"/>
                  <a:pt x="571152" y="0"/>
                  <a:pt x="789039" y="0"/>
                </a:cubicBezTo>
                <a:cubicBezTo>
                  <a:pt x="1224813" y="0"/>
                  <a:pt x="1578078" y="353265"/>
                  <a:pt x="1578078" y="789039"/>
                </a:cubicBezTo>
                <a:cubicBezTo>
                  <a:pt x="1578078" y="1224813"/>
                  <a:pt x="1224813" y="1578078"/>
                  <a:pt x="789039" y="1578078"/>
                </a:cubicBezTo>
                <a:cubicBezTo>
                  <a:pt x="734567" y="1578078"/>
                  <a:pt x="681385" y="1572558"/>
                  <a:pt x="630020" y="1562047"/>
                </a:cubicBezTo>
                <a:lnTo>
                  <a:pt x="600332" y="1552832"/>
                </a:lnTo>
                <a:lnTo>
                  <a:pt x="563572" y="1434409"/>
                </a:lnTo>
                <a:cubicBezTo>
                  <a:pt x="483717" y="1245611"/>
                  <a:pt x="332467" y="1094361"/>
                  <a:pt x="143669" y="1014506"/>
                </a:cubicBezTo>
                <a:lnTo>
                  <a:pt x="25246" y="977746"/>
                </a:lnTo>
                <a:lnTo>
                  <a:pt x="16031" y="948058"/>
                </a:lnTo>
                <a:cubicBezTo>
                  <a:pt x="5520" y="896693"/>
                  <a:pt x="0" y="843511"/>
                  <a:pt x="0" y="789039"/>
                </a:cubicBezTo>
                <a:cubicBezTo>
                  <a:pt x="0" y="571152"/>
                  <a:pt x="88316" y="373892"/>
                  <a:pt x="231104" y="231104"/>
                </a:cubicBezTo>
                <a:close/>
              </a:path>
            </a:pathLst>
          </a:custGeom>
          <a:solidFill>
            <a:srgbClr val="1C4885"/>
          </a:solidFill>
          <a:ln w="508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516894" y="1772357"/>
            <a:ext cx="2225040" cy="4603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嵌入式开发</a:t>
            </a: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904240" y="2352675"/>
            <a:ext cx="3554095" cy="107632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基于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stm32/arduino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开发板，搭配传感器判断当前风况，构建电路板块，实现稳定电压，储存能源，监控发电量等功能</a:t>
            </a: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217174" y="3912918"/>
            <a:ext cx="2225040" cy="4603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>
                <a:solidFill>
                  <a:schemeClr val="bg1"/>
                </a:solidFill>
                <a:effectLst>
                  <a:outerShdw blurRad="152400" dist="50800" dir="5400000" algn="ctr" rotWithShape="0">
                    <a:schemeClr val="tx1"/>
                  </a:outerShdw>
                </a:effectLst>
                <a:latin typeface="FZZhengHeiS-DB-GB" panose="02000000000000000000" pitchFamily="2" charset="0"/>
                <a:ea typeface="FZZhengHeiS-DB-GB" panose="02000000000000000000" pitchFamily="2" charset="0"/>
              </a:defRPr>
            </a:lvl1pPr>
          </a:lstStyle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ea"/>
                <a:sym typeface="+mn-lt"/>
              </a:rPr>
              <a:t>叶片设计</a:t>
            </a: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988060" y="4424045"/>
            <a:ext cx="3387090" cy="107632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基于空气动力学基础，结合CAD/solidwork软件设计叶片叶形状，利用QBlade/ANSYS进行仿真测试，最终利用3D打印技术制造</a:t>
            </a: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7885779" y="1772059"/>
            <a:ext cx="2225040" cy="4603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风力发电技术</a:t>
            </a:r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7886065" y="2352675"/>
            <a:ext cx="3693160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结构参数，包括叶轮直径，尖速比，轮毂半径等主体部分对性能的影响分析</a:t>
            </a:r>
          </a:p>
        </p:txBody>
      </p:sp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7947660" y="3963670"/>
            <a:ext cx="2609215" cy="4603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>
                <a:solidFill>
                  <a:schemeClr val="bg1"/>
                </a:solidFill>
                <a:effectLst>
                  <a:outerShdw blurRad="152400" dist="50800" dir="5400000" algn="ctr" rotWithShape="0">
                    <a:schemeClr val="tx1"/>
                  </a:outerShdw>
                </a:effectLst>
                <a:latin typeface="FZZhengHeiS-DB-GB" panose="02000000000000000000" pitchFamily="2" charset="0"/>
                <a:ea typeface="FZZhengHeiS-DB-GB" panose="02000000000000000000" pitchFamily="2" charset="0"/>
              </a:defRPr>
            </a:lvl1pPr>
          </a:lstStyle>
          <a:p>
            <a:pPr algn="l"/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ea"/>
                <a:sym typeface="+mn-lt"/>
              </a:rPr>
              <a:t>MPPT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ea"/>
                <a:sym typeface="+mn-lt"/>
              </a:rPr>
              <a:t>智能算法</a:t>
            </a:r>
          </a:p>
        </p:txBody>
      </p:sp>
      <p:sp>
        <p:nvSpPr>
          <p:cNvPr id="19" name="文本框 18"/>
          <p:cNvSpPr txBox="1"/>
          <p:nvPr>
            <p:custDataLst>
              <p:tags r:id="rId12"/>
            </p:custDataLst>
          </p:nvPr>
        </p:nvSpPr>
        <p:spPr>
          <a:xfrm>
            <a:off x="7998460" y="4424045"/>
            <a:ext cx="3033395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在不同风速下，</a:t>
            </a:r>
            <a:r>
              <a:rPr lang="zh-CN" altLang="en-US" sz="1600" dirty="0"/>
              <a:t>实时</a:t>
            </a:r>
            <a:r>
              <a:rPr lang="zh-CN" altLang="zh-CN" sz="1600" dirty="0"/>
              <a:t>调节风力涡轮机转子转速，使</a:t>
            </a:r>
            <a:r>
              <a:rPr lang="zh-CN" altLang="en-US" sz="1600" dirty="0"/>
              <a:t>发电</a:t>
            </a:r>
            <a:r>
              <a:rPr lang="zh-CN" altLang="zh-CN" sz="1600" dirty="0"/>
              <a:t>达到最大功率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 cstate="screen"/>
          <a:stretch>
            <a:fillRect/>
          </a:stretch>
        </p:blipFill>
        <p:spPr>
          <a:xfrm>
            <a:off x="5167761" y="2516101"/>
            <a:ext cx="510223" cy="510223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0" cstate="screen"/>
          <a:stretch>
            <a:fillRect/>
          </a:stretch>
        </p:blipFill>
        <p:spPr>
          <a:xfrm>
            <a:off x="6514799" y="2516101"/>
            <a:ext cx="510223" cy="510223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1" cstate="screen"/>
          <a:stretch>
            <a:fillRect/>
          </a:stretch>
        </p:blipFill>
        <p:spPr>
          <a:xfrm>
            <a:off x="5167761" y="3863139"/>
            <a:ext cx="510223" cy="51022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2" cstate="screen"/>
          <a:stretch>
            <a:fillRect/>
          </a:stretch>
        </p:blipFill>
        <p:spPr>
          <a:xfrm>
            <a:off x="6514799" y="3863139"/>
            <a:ext cx="510223" cy="510223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04648" y="494382"/>
            <a:ext cx="253845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项目难点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7915910" y="3345180"/>
            <a:ext cx="2136140" cy="1177925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在有限的计算资源，部署算法以及各个传感器，并保证实时性</a:t>
            </a: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2680970" y="4733925"/>
            <a:ext cx="2294255" cy="124333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微风环境，要求极低的启动风速，但在高风速时又需防止损坏。</a:t>
            </a: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2825750" y="2101850"/>
            <a:ext cx="2148840" cy="1327785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对风速突变敏感。微小波动会导致转速发生较强的变化，使最大功率点（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MPP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）频繁漂移。</a:t>
            </a:r>
          </a:p>
        </p:txBody>
      </p:sp>
      <p:cxnSp>
        <p:nvCxnSpPr>
          <p:cNvPr id="12" name="直接连接符 11"/>
          <p:cNvCxnSpPr/>
          <p:nvPr>
            <p:custDataLst>
              <p:tags r:id="rId4"/>
            </p:custDataLst>
          </p:nvPr>
        </p:nvCxnSpPr>
        <p:spPr>
          <a:xfrm>
            <a:off x="6445250" y="1724664"/>
            <a:ext cx="0" cy="4252686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5"/>
            </p:custDataLst>
          </p:nvPr>
        </p:nvSpPr>
        <p:spPr>
          <a:xfrm>
            <a:off x="6292850" y="2378079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1C48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/>
          <p:cNvSpPr/>
          <p:nvPr>
            <p:custDataLst>
              <p:tags r:id="rId6"/>
            </p:custDataLst>
          </p:nvPr>
        </p:nvSpPr>
        <p:spPr>
          <a:xfrm>
            <a:off x="6292850" y="3719441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1C48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>
            <p:custDataLst>
              <p:tags r:id="rId7"/>
            </p:custDataLst>
          </p:nvPr>
        </p:nvSpPr>
        <p:spPr>
          <a:xfrm>
            <a:off x="6292578" y="501825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1C48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任意多边形 16"/>
          <p:cNvSpPr/>
          <p:nvPr>
            <p:custDataLst>
              <p:tags r:id="rId8"/>
            </p:custDataLst>
          </p:nvPr>
        </p:nvSpPr>
        <p:spPr>
          <a:xfrm>
            <a:off x="2831918" y="1652092"/>
            <a:ext cx="2264230" cy="449943"/>
          </a:xfrm>
          <a:custGeom>
            <a:avLst/>
            <a:gdLst>
              <a:gd name="connsiteX0" fmla="*/ 74992 w 2264230"/>
              <a:gd name="connsiteY0" fmla="*/ 0 h 449943"/>
              <a:gd name="connsiteX1" fmla="*/ 2087637 w 2264230"/>
              <a:gd name="connsiteY1" fmla="*/ 0 h 449943"/>
              <a:gd name="connsiteX2" fmla="*/ 2162629 w 2264230"/>
              <a:gd name="connsiteY2" fmla="*/ 74992 h 449943"/>
              <a:gd name="connsiteX3" fmla="*/ 2162629 w 2264230"/>
              <a:gd name="connsiteY3" fmla="*/ 166043 h 449943"/>
              <a:gd name="connsiteX4" fmla="*/ 2264230 w 2264230"/>
              <a:gd name="connsiteY4" fmla="*/ 224971 h 449943"/>
              <a:gd name="connsiteX5" fmla="*/ 2162629 w 2264230"/>
              <a:gd name="connsiteY5" fmla="*/ 283900 h 449943"/>
              <a:gd name="connsiteX6" fmla="*/ 2162629 w 2264230"/>
              <a:gd name="connsiteY6" fmla="*/ 374951 h 449943"/>
              <a:gd name="connsiteX7" fmla="*/ 2087637 w 2264230"/>
              <a:gd name="connsiteY7" fmla="*/ 449943 h 449943"/>
              <a:gd name="connsiteX8" fmla="*/ 74992 w 2264230"/>
              <a:gd name="connsiteY8" fmla="*/ 449943 h 449943"/>
              <a:gd name="connsiteX9" fmla="*/ 0 w 2264230"/>
              <a:gd name="connsiteY9" fmla="*/ 374951 h 449943"/>
              <a:gd name="connsiteX10" fmla="*/ 0 w 2264230"/>
              <a:gd name="connsiteY10" fmla="*/ 74992 h 449943"/>
              <a:gd name="connsiteX11" fmla="*/ 74992 w 2264230"/>
              <a:gd name="connsiteY11" fmla="*/ 0 h 44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4230" h="449943">
                <a:moveTo>
                  <a:pt x="74992" y="0"/>
                </a:moveTo>
                <a:lnTo>
                  <a:pt x="2087637" y="0"/>
                </a:lnTo>
                <a:cubicBezTo>
                  <a:pt x="2129054" y="0"/>
                  <a:pt x="2162629" y="33575"/>
                  <a:pt x="2162629" y="74992"/>
                </a:cubicBezTo>
                <a:lnTo>
                  <a:pt x="2162629" y="166043"/>
                </a:lnTo>
                <a:lnTo>
                  <a:pt x="2264230" y="224971"/>
                </a:lnTo>
                <a:lnTo>
                  <a:pt x="2162629" y="283900"/>
                </a:lnTo>
                <a:lnTo>
                  <a:pt x="2162629" y="374951"/>
                </a:lnTo>
                <a:cubicBezTo>
                  <a:pt x="2162629" y="416368"/>
                  <a:pt x="2129054" y="449943"/>
                  <a:pt x="2087637" y="449943"/>
                </a:cubicBezTo>
                <a:lnTo>
                  <a:pt x="74992" y="449943"/>
                </a:lnTo>
                <a:cubicBezTo>
                  <a:pt x="33575" y="449943"/>
                  <a:pt x="0" y="416368"/>
                  <a:pt x="0" y="374951"/>
                </a:cubicBezTo>
                <a:lnTo>
                  <a:pt x="0" y="74992"/>
                </a:lnTo>
                <a:cubicBezTo>
                  <a:pt x="0" y="33575"/>
                  <a:pt x="33575" y="0"/>
                  <a:pt x="74992" y="0"/>
                </a:cubicBezTo>
                <a:close/>
              </a:path>
            </a:pathLst>
          </a:cu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系统惯量小</a:t>
            </a:r>
          </a:p>
        </p:txBody>
      </p:sp>
      <p:sp>
        <p:nvSpPr>
          <p:cNvPr id="18" name="任意多边形 17"/>
          <p:cNvSpPr/>
          <p:nvPr>
            <p:custDataLst>
              <p:tags r:id="rId9"/>
            </p:custDataLst>
          </p:nvPr>
        </p:nvSpPr>
        <p:spPr>
          <a:xfrm>
            <a:off x="2710179" y="4284016"/>
            <a:ext cx="2264230" cy="449943"/>
          </a:xfrm>
          <a:custGeom>
            <a:avLst/>
            <a:gdLst>
              <a:gd name="connsiteX0" fmla="*/ 74992 w 2264230"/>
              <a:gd name="connsiteY0" fmla="*/ 0 h 449943"/>
              <a:gd name="connsiteX1" fmla="*/ 2087637 w 2264230"/>
              <a:gd name="connsiteY1" fmla="*/ 0 h 449943"/>
              <a:gd name="connsiteX2" fmla="*/ 2162629 w 2264230"/>
              <a:gd name="connsiteY2" fmla="*/ 74992 h 449943"/>
              <a:gd name="connsiteX3" fmla="*/ 2162629 w 2264230"/>
              <a:gd name="connsiteY3" fmla="*/ 166043 h 449943"/>
              <a:gd name="connsiteX4" fmla="*/ 2264230 w 2264230"/>
              <a:gd name="connsiteY4" fmla="*/ 224971 h 449943"/>
              <a:gd name="connsiteX5" fmla="*/ 2162629 w 2264230"/>
              <a:gd name="connsiteY5" fmla="*/ 283900 h 449943"/>
              <a:gd name="connsiteX6" fmla="*/ 2162629 w 2264230"/>
              <a:gd name="connsiteY6" fmla="*/ 374951 h 449943"/>
              <a:gd name="connsiteX7" fmla="*/ 2087637 w 2264230"/>
              <a:gd name="connsiteY7" fmla="*/ 449943 h 449943"/>
              <a:gd name="connsiteX8" fmla="*/ 74992 w 2264230"/>
              <a:gd name="connsiteY8" fmla="*/ 449943 h 449943"/>
              <a:gd name="connsiteX9" fmla="*/ 0 w 2264230"/>
              <a:gd name="connsiteY9" fmla="*/ 374951 h 449943"/>
              <a:gd name="connsiteX10" fmla="*/ 0 w 2264230"/>
              <a:gd name="connsiteY10" fmla="*/ 74992 h 449943"/>
              <a:gd name="connsiteX11" fmla="*/ 74992 w 2264230"/>
              <a:gd name="connsiteY11" fmla="*/ 0 h 44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4230" h="449943">
                <a:moveTo>
                  <a:pt x="74992" y="0"/>
                </a:moveTo>
                <a:lnTo>
                  <a:pt x="2087637" y="0"/>
                </a:lnTo>
                <a:cubicBezTo>
                  <a:pt x="2129054" y="0"/>
                  <a:pt x="2162629" y="33575"/>
                  <a:pt x="2162629" y="74992"/>
                </a:cubicBezTo>
                <a:lnTo>
                  <a:pt x="2162629" y="166043"/>
                </a:lnTo>
                <a:lnTo>
                  <a:pt x="2264230" y="224971"/>
                </a:lnTo>
                <a:lnTo>
                  <a:pt x="2162629" y="283900"/>
                </a:lnTo>
                <a:lnTo>
                  <a:pt x="2162629" y="374951"/>
                </a:lnTo>
                <a:cubicBezTo>
                  <a:pt x="2162629" y="416368"/>
                  <a:pt x="2129054" y="449943"/>
                  <a:pt x="2087637" y="449943"/>
                </a:cubicBezTo>
                <a:lnTo>
                  <a:pt x="74992" y="449943"/>
                </a:lnTo>
                <a:cubicBezTo>
                  <a:pt x="33575" y="449943"/>
                  <a:pt x="0" y="416368"/>
                  <a:pt x="0" y="374951"/>
                </a:cubicBezTo>
                <a:lnTo>
                  <a:pt x="0" y="74992"/>
                </a:lnTo>
                <a:cubicBezTo>
                  <a:pt x="0" y="33575"/>
                  <a:pt x="33575" y="0"/>
                  <a:pt x="74992" y="0"/>
                </a:cubicBezTo>
                <a:close/>
              </a:path>
            </a:pathLst>
          </a:cu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启停特性与高速保护</a:t>
            </a:r>
          </a:p>
        </p:txBody>
      </p:sp>
      <p:sp>
        <p:nvSpPr>
          <p:cNvPr id="19" name="任意多边形 18"/>
          <p:cNvSpPr/>
          <p:nvPr>
            <p:custDataLst>
              <p:tags r:id="rId10"/>
            </p:custDataLst>
          </p:nvPr>
        </p:nvSpPr>
        <p:spPr>
          <a:xfrm rot="10800000" flipV="1">
            <a:off x="7782560" y="2905008"/>
            <a:ext cx="2264230" cy="440146"/>
          </a:xfrm>
          <a:custGeom>
            <a:avLst/>
            <a:gdLst>
              <a:gd name="connsiteX0" fmla="*/ 74992 w 2264230"/>
              <a:gd name="connsiteY0" fmla="*/ 0 h 449943"/>
              <a:gd name="connsiteX1" fmla="*/ 2087637 w 2264230"/>
              <a:gd name="connsiteY1" fmla="*/ 0 h 449943"/>
              <a:gd name="connsiteX2" fmla="*/ 2162629 w 2264230"/>
              <a:gd name="connsiteY2" fmla="*/ 74992 h 449943"/>
              <a:gd name="connsiteX3" fmla="*/ 2162629 w 2264230"/>
              <a:gd name="connsiteY3" fmla="*/ 166043 h 449943"/>
              <a:gd name="connsiteX4" fmla="*/ 2264230 w 2264230"/>
              <a:gd name="connsiteY4" fmla="*/ 224971 h 449943"/>
              <a:gd name="connsiteX5" fmla="*/ 2162629 w 2264230"/>
              <a:gd name="connsiteY5" fmla="*/ 283900 h 449943"/>
              <a:gd name="connsiteX6" fmla="*/ 2162629 w 2264230"/>
              <a:gd name="connsiteY6" fmla="*/ 374951 h 449943"/>
              <a:gd name="connsiteX7" fmla="*/ 2087637 w 2264230"/>
              <a:gd name="connsiteY7" fmla="*/ 449943 h 449943"/>
              <a:gd name="connsiteX8" fmla="*/ 74992 w 2264230"/>
              <a:gd name="connsiteY8" fmla="*/ 449943 h 449943"/>
              <a:gd name="connsiteX9" fmla="*/ 0 w 2264230"/>
              <a:gd name="connsiteY9" fmla="*/ 374951 h 449943"/>
              <a:gd name="connsiteX10" fmla="*/ 0 w 2264230"/>
              <a:gd name="connsiteY10" fmla="*/ 74992 h 449943"/>
              <a:gd name="connsiteX11" fmla="*/ 74992 w 2264230"/>
              <a:gd name="connsiteY11" fmla="*/ 0 h 44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4230" h="449943">
                <a:moveTo>
                  <a:pt x="74992" y="0"/>
                </a:moveTo>
                <a:lnTo>
                  <a:pt x="2087637" y="0"/>
                </a:lnTo>
                <a:cubicBezTo>
                  <a:pt x="2129054" y="0"/>
                  <a:pt x="2162629" y="33575"/>
                  <a:pt x="2162629" y="74992"/>
                </a:cubicBezTo>
                <a:lnTo>
                  <a:pt x="2162629" y="166043"/>
                </a:lnTo>
                <a:lnTo>
                  <a:pt x="2264230" y="224971"/>
                </a:lnTo>
                <a:lnTo>
                  <a:pt x="2162629" y="283900"/>
                </a:lnTo>
                <a:lnTo>
                  <a:pt x="2162629" y="374951"/>
                </a:lnTo>
                <a:cubicBezTo>
                  <a:pt x="2162629" y="416368"/>
                  <a:pt x="2129054" y="449943"/>
                  <a:pt x="2087637" y="449943"/>
                </a:cubicBezTo>
                <a:lnTo>
                  <a:pt x="74992" y="449943"/>
                </a:lnTo>
                <a:cubicBezTo>
                  <a:pt x="33575" y="449943"/>
                  <a:pt x="0" y="416368"/>
                  <a:pt x="0" y="374951"/>
                </a:cubicBezTo>
                <a:lnTo>
                  <a:pt x="0" y="74992"/>
                </a:lnTo>
                <a:cubicBezTo>
                  <a:pt x="0" y="33575"/>
                  <a:pt x="33575" y="0"/>
                  <a:pt x="74992" y="0"/>
                </a:cubicBezTo>
                <a:close/>
              </a:path>
            </a:pathLst>
          </a:cu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硬件限制</a:t>
            </a:r>
          </a:p>
        </p:txBody>
      </p:sp>
      <p:cxnSp>
        <p:nvCxnSpPr>
          <p:cNvPr id="21" name="直接连接符 20"/>
          <p:cNvCxnSpPr>
            <a:endCxn id="13" idx="2"/>
          </p:cNvCxnSpPr>
          <p:nvPr>
            <p:custDataLst>
              <p:tags r:id="rId11"/>
            </p:custDataLst>
          </p:nvPr>
        </p:nvCxnSpPr>
        <p:spPr>
          <a:xfrm>
            <a:off x="5080908" y="2530479"/>
            <a:ext cx="1211942" cy="0"/>
          </a:xfrm>
          <a:prstGeom prst="line">
            <a:avLst/>
          </a:prstGeom>
          <a:ln w="25400">
            <a:solidFill>
              <a:srgbClr val="1C48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>
            <p:custDataLst>
              <p:tags r:id="rId12"/>
            </p:custDataLst>
          </p:nvPr>
        </p:nvCxnSpPr>
        <p:spPr>
          <a:xfrm flipV="1">
            <a:off x="6597470" y="3843116"/>
            <a:ext cx="1166222" cy="15239"/>
          </a:xfrm>
          <a:prstGeom prst="line">
            <a:avLst/>
          </a:prstGeom>
          <a:ln w="25400">
            <a:solidFill>
              <a:srgbClr val="1C48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endCxn id="16" idx="2"/>
          </p:cNvCxnSpPr>
          <p:nvPr>
            <p:custDataLst>
              <p:tags r:id="rId13"/>
            </p:custDataLst>
          </p:nvPr>
        </p:nvCxnSpPr>
        <p:spPr>
          <a:xfrm flipV="1">
            <a:off x="5099504" y="5170658"/>
            <a:ext cx="1193074" cy="15239"/>
          </a:xfrm>
          <a:prstGeom prst="line">
            <a:avLst/>
          </a:prstGeom>
          <a:ln w="25400">
            <a:solidFill>
              <a:srgbClr val="1C48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04648" y="511527"/>
            <a:ext cx="253845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项目创新点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1"/>
            </p:custDataLst>
          </p:nvPr>
        </p:nvSpPr>
        <p:spPr>
          <a:xfrm>
            <a:off x="1028645" y="1311257"/>
            <a:ext cx="2520733" cy="2445011"/>
          </a:xfrm>
          <a:custGeom>
            <a:avLst/>
            <a:gdLst>
              <a:gd name="connsiteX0" fmla="*/ 1270000 w 2520733"/>
              <a:gd name="connsiteY0" fmla="*/ 0 h 2445011"/>
              <a:gd name="connsiteX1" fmla="*/ 2514198 w 2520733"/>
              <a:gd name="connsiteY1" fmla="*/ 1014051 h 2445011"/>
              <a:gd name="connsiteX2" fmla="*/ 2520733 w 2520733"/>
              <a:gd name="connsiteY2" fmla="*/ 1056868 h 2445011"/>
              <a:gd name="connsiteX3" fmla="*/ 2483803 w 2520733"/>
              <a:gd name="connsiteY3" fmla="*/ 1090431 h 2445011"/>
              <a:gd name="connsiteX4" fmla="*/ 2111829 w 2520733"/>
              <a:gd name="connsiteY4" fmla="*/ 1988457 h 2445011"/>
              <a:gd name="connsiteX5" fmla="*/ 2118386 w 2520733"/>
              <a:gd name="connsiteY5" fmla="*/ 2118307 h 2445011"/>
              <a:gd name="connsiteX6" fmla="*/ 2131096 w 2520733"/>
              <a:gd name="connsiteY6" fmla="*/ 2201890 h 2445011"/>
              <a:gd name="connsiteX7" fmla="*/ 2097177 w 2520733"/>
              <a:gd name="connsiteY7" fmla="*/ 2232418 h 2445011"/>
              <a:gd name="connsiteX8" fmla="*/ 1874293 w 2520733"/>
              <a:gd name="connsiteY8" fmla="*/ 2163231 h 2445011"/>
              <a:gd name="connsiteX9" fmla="*/ 1618343 w 2520733"/>
              <a:gd name="connsiteY9" fmla="*/ 2137429 h 2445011"/>
              <a:gd name="connsiteX10" fmla="*/ 810505 w 2520733"/>
              <a:gd name="connsiteY10" fmla="*/ 2427435 h 2445011"/>
              <a:gd name="connsiteX11" fmla="*/ 791167 w 2520733"/>
              <a:gd name="connsiteY11" fmla="*/ 2445011 h 2445011"/>
              <a:gd name="connsiteX12" fmla="*/ 775659 w 2520733"/>
              <a:gd name="connsiteY12" fmla="*/ 2440197 h 2445011"/>
              <a:gd name="connsiteX13" fmla="*/ 0 w 2520733"/>
              <a:gd name="connsiteY13" fmla="*/ 1270000 h 2445011"/>
              <a:gd name="connsiteX14" fmla="*/ 1270000 w 2520733"/>
              <a:gd name="connsiteY14" fmla="*/ 0 h 2445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20733" h="2445011">
                <a:moveTo>
                  <a:pt x="1270000" y="0"/>
                </a:moveTo>
                <a:cubicBezTo>
                  <a:pt x="1883727" y="0"/>
                  <a:pt x="2395776" y="435333"/>
                  <a:pt x="2514198" y="1014051"/>
                </a:cubicBezTo>
                <a:lnTo>
                  <a:pt x="2520733" y="1056868"/>
                </a:lnTo>
                <a:lnTo>
                  <a:pt x="2483803" y="1090431"/>
                </a:lnTo>
                <a:cubicBezTo>
                  <a:pt x="2253979" y="1320256"/>
                  <a:pt x="2111829" y="1637756"/>
                  <a:pt x="2111829" y="1988457"/>
                </a:cubicBezTo>
                <a:cubicBezTo>
                  <a:pt x="2111829" y="2032295"/>
                  <a:pt x="2114050" y="2075614"/>
                  <a:pt x="2118386" y="2118307"/>
                </a:cubicBezTo>
                <a:lnTo>
                  <a:pt x="2131096" y="2201890"/>
                </a:lnTo>
                <a:lnTo>
                  <a:pt x="2097177" y="2232418"/>
                </a:lnTo>
                <a:lnTo>
                  <a:pt x="1874293" y="2163231"/>
                </a:lnTo>
                <a:cubicBezTo>
                  <a:pt x="1791619" y="2146314"/>
                  <a:pt x="1706018" y="2137429"/>
                  <a:pt x="1618343" y="2137429"/>
                </a:cubicBezTo>
                <a:cubicBezTo>
                  <a:pt x="1311480" y="2137429"/>
                  <a:pt x="1030036" y="2246262"/>
                  <a:pt x="810505" y="2427435"/>
                </a:cubicBezTo>
                <a:lnTo>
                  <a:pt x="791167" y="2445011"/>
                </a:lnTo>
                <a:lnTo>
                  <a:pt x="775659" y="2440197"/>
                </a:lnTo>
                <a:cubicBezTo>
                  <a:pt x="319837" y="2247401"/>
                  <a:pt x="0" y="1796052"/>
                  <a:pt x="0" y="1270000"/>
                </a:cubicBezTo>
                <a:cubicBezTo>
                  <a:pt x="0" y="568598"/>
                  <a:pt x="568598" y="0"/>
                  <a:pt x="1270000" y="0"/>
                </a:cubicBezTo>
                <a:close/>
              </a:path>
            </a:pathLst>
          </a:custGeom>
          <a:solidFill>
            <a:schemeClr val="bg1">
              <a:lumMod val="95000"/>
              <a:alpha val="8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>
            <p:custDataLst>
              <p:tags r:id="rId2"/>
            </p:custDataLst>
          </p:nvPr>
        </p:nvSpPr>
        <p:spPr>
          <a:xfrm>
            <a:off x="1350465" y="3487574"/>
            <a:ext cx="2540000" cy="2540000"/>
          </a:xfrm>
          <a:custGeom>
            <a:avLst/>
            <a:gdLst>
              <a:gd name="connsiteX0" fmla="*/ 1270000 w 2540000"/>
              <a:gd name="connsiteY0" fmla="*/ 0 h 2540000"/>
              <a:gd name="connsiteX1" fmla="*/ 1764342 w 2540000"/>
              <a:gd name="connsiteY1" fmla="*/ 99803 h 2540000"/>
              <a:gd name="connsiteX2" fmla="*/ 1790709 w 2540000"/>
              <a:gd name="connsiteY2" fmla="*/ 112505 h 2540000"/>
              <a:gd name="connsiteX3" fmla="*/ 1820583 w 2540000"/>
              <a:gd name="connsiteY3" fmla="*/ 228687 h 2540000"/>
              <a:gd name="connsiteX4" fmla="*/ 2428128 w 2540000"/>
              <a:gd name="connsiteY4" fmla="*/ 967746 h 2540000"/>
              <a:gd name="connsiteX5" fmla="*/ 2512777 w 2540000"/>
              <a:gd name="connsiteY5" fmla="*/ 1008523 h 2540000"/>
              <a:gd name="connsiteX6" fmla="*/ 2514198 w 2540000"/>
              <a:gd name="connsiteY6" fmla="*/ 1014051 h 2540000"/>
              <a:gd name="connsiteX7" fmla="*/ 2540000 w 2540000"/>
              <a:gd name="connsiteY7" fmla="*/ 1270000 h 2540000"/>
              <a:gd name="connsiteX8" fmla="*/ 1270000 w 2540000"/>
              <a:gd name="connsiteY8" fmla="*/ 2540000 h 2540000"/>
              <a:gd name="connsiteX9" fmla="*/ 0 w 2540000"/>
              <a:gd name="connsiteY9" fmla="*/ 1270000 h 2540000"/>
              <a:gd name="connsiteX10" fmla="*/ 1270000 w 2540000"/>
              <a:gd name="connsiteY10" fmla="*/ 0 h 2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40000" h="2540000">
                <a:moveTo>
                  <a:pt x="1270000" y="0"/>
                </a:moveTo>
                <a:cubicBezTo>
                  <a:pt x="1445351" y="0"/>
                  <a:pt x="1612401" y="35538"/>
                  <a:pt x="1764342" y="99803"/>
                </a:cubicBezTo>
                <a:lnTo>
                  <a:pt x="1790709" y="112505"/>
                </a:lnTo>
                <a:lnTo>
                  <a:pt x="1820583" y="228687"/>
                </a:lnTo>
                <a:cubicBezTo>
                  <a:pt x="1919534" y="546827"/>
                  <a:pt x="2140208" y="811338"/>
                  <a:pt x="2428128" y="967746"/>
                </a:cubicBezTo>
                <a:lnTo>
                  <a:pt x="2512777" y="1008523"/>
                </a:lnTo>
                <a:lnTo>
                  <a:pt x="2514198" y="1014051"/>
                </a:lnTo>
                <a:cubicBezTo>
                  <a:pt x="2531116" y="1096725"/>
                  <a:pt x="2540000" y="1182325"/>
                  <a:pt x="2540000" y="1270000"/>
                </a:cubicBezTo>
                <a:cubicBezTo>
                  <a:pt x="2540000" y="1971402"/>
                  <a:pt x="1971402" y="2540000"/>
                  <a:pt x="1270000" y="2540000"/>
                </a:cubicBezTo>
                <a:cubicBezTo>
                  <a:pt x="568598" y="2540000"/>
                  <a:pt x="0" y="1971402"/>
                  <a:pt x="0" y="1270000"/>
                </a:cubicBezTo>
                <a:cubicBezTo>
                  <a:pt x="0" y="568598"/>
                  <a:pt x="568598" y="0"/>
                  <a:pt x="127000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  <a:alpha val="8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" name="椭圆 9"/>
          <p:cNvSpPr/>
          <p:nvPr>
            <p:custDataLst>
              <p:tags r:id="rId3"/>
            </p:custDataLst>
          </p:nvPr>
        </p:nvSpPr>
        <p:spPr>
          <a:xfrm>
            <a:off x="3121207" y="2068602"/>
            <a:ext cx="2540000" cy="2540000"/>
          </a:xfrm>
          <a:prstGeom prst="ellipse">
            <a:avLst/>
          </a:prstGeom>
          <a:solidFill>
            <a:srgbClr val="1C4885">
              <a:alpha val="90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171442" y="2014543"/>
            <a:ext cx="2225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/>
                </a:solidFill>
                <a:effectLst>
                  <a:outerShdw blurRad="152400" dist="50800" dir="5400000" algn="ctr" rotWithShape="0">
                    <a:schemeClr val="tx1"/>
                  </a:outerShdw>
                </a:effectLst>
                <a:latin typeface="FZZhengHeiS-DB-GB" panose="02000000000000000000" pitchFamily="2" charset="0"/>
                <a:ea typeface="FZZhengHeiS-DB-GB" panose="02000000000000000000" pitchFamily="2" charset="0"/>
              </a:defRPr>
            </a:lvl1pPr>
          </a:lstStyle>
          <a:p>
            <a:pPr algn="ctr"/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ea"/>
                <a:sym typeface="+mn-lt"/>
              </a:rPr>
              <a:t>MPPT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ea"/>
                <a:sym typeface="+mn-lt"/>
              </a:rPr>
              <a:t>算法创新</a:t>
            </a: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275080" y="2472055"/>
            <a:ext cx="19672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算法轻量化改进，适配小型化设备计算能力</a:t>
            </a:r>
          </a:p>
        </p:txBody>
      </p:sp>
      <p:cxnSp>
        <p:nvCxnSpPr>
          <p:cNvPr id="13" name="直接连接符 12"/>
          <p:cNvCxnSpPr/>
          <p:nvPr>
            <p:custDataLst>
              <p:tags r:id="rId6"/>
            </p:custDataLst>
          </p:nvPr>
        </p:nvCxnSpPr>
        <p:spPr>
          <a:xfrm>
            <a:off x="2151379" y="2366817"/>
            <a:ext cx="265167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533051" y="4192331"/>
            <a:ext cx="22250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/>
                </a:solidFill>
                <a:effectLst>
                  <a:outerShdw blurRad="152400" dist="50800" dir="5400000" algn="ctr" rotWithShape="0">
                    <a:schemeClr val="tx1"/>
                  </a:outerShdw>
                </a:effectLst>
                <a:latin typeface="FZZhengHeiS-DB-GB" panose="02000000000000000000" pitchFamily="2" charset="0"/>
                <a:ea typeface="FZZhengHeiS-DB-GB" panose="02000000000000000000" pitchFamily="2" charset="0"/>
              </a:defRPr>
            </a:lvl1pPr>
          </a:lstStyle>
          <a:p>
            <a:pPr algn="ctr"/>
            <a:r>
              <a:rPr lang="zh-CN" altLang="en-US" sz="1600" dirty="0">
                <a:effectLst/>
                <a:latin typeface="+mn-lt"/>
                <a:ea typeface="+mn-ea"/>
                <a:cs typeface="+mn-ea"/>
                <a:sym typeface="+mn-lt"/>
              </a:rPr>
              <a:t>风能转化效率提高</a:t>
            </a: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1752285" y="4650151"/>
            <a:ext cx="178657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提升全工况区间能量捕获率与输出稳定性</a:t>
            </a:r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2512988" y="4544605"/>
            <a:ext cx="265167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3291357" y="2787930"/>
            <a:ext cx="22250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/>
                </a:solidFill>
                <a:effectLst>
                  <a:outerShdw blurRad="152400" dist="50800" dir="5400000" algn="ctr" rotWithShape="0">
                    <a:schemeClr val="tx1"/>
                  </a:outerShdw>
                </a:effectLst>
                <a:latin typeface="FZZhengHeiS-DB-GB" panose="02000000000000000000" pitchFamily="2" charset="0"/>
                <a:ea typeface="FZZhengHeiS-DB-GB" panose="02000000000000000000" pitchFamily="2" charset="0"/>
              </a:defRPr>
            </a:lvl1pPr>
          </a:lstStyle>
          <a:p>
            <a:pPr algn="ctr"/>
            <a:r>
              <a:rPr lang="zh-CN" altLang="en-US" sz="1600" dirty="0">
                <a:effectLst/>
                <a:latin typeface="+mn-lt"/>
                <a:ea typeface="+mn-ea"/>
                <a:cs typeface="+mn-ea"/>
                <a:sym typeface="+mn-lt"/>
              </a:rPr>
              <a:t>叶片设计优化</a:t>
            </a:r>
          </a:p>
        </p:txBody>
      </p:sp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3510591" y="3245750"/>
            <a:ext cx="178657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低风速下高启动扭矩与结构轻量化平衡</a:t>
            </a:r>
          </a:p>
        </p:txBody>
      </p: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>
            <a:off x="4271294" y="3140204"/>
            <a:ext cx="265167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6469426" y="1921840"/>
            <a:ext cx="437503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针对小型风机工作环境风速波动频繁的特点，改进传统扰动观察法（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P&amp;O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）研究如何根据功率变化率动态调整追踪步长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469426" y="3449044"/>
            <a:ext cx="437503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对弦长分布、扭角及叶片数进行多目标迭代优化，兼顾低风速启动性能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469427" y="5007133"/>
            <a:ext cx="437503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匹配最佳叶轮直径与尖速比以兼顾启动与功率，并最小化轮毂损失，对结构设计进行创新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6469538" y="1493891"/>
            <a:ext cx="2294021" cy="354924"/>
          </a:xfrm>
          <a:prstGeom prst="roundRect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CN" dirty="0">
                <a:cs typeface="+mn-ea"/>
                <a:sym typeface="+mn-lt"/>
              </a:rPr>
              <a:t>MPPT</a:t>
            </a:r>
            <a:r>
              <a:rPr lang="zh-CN" altLang="en-US" dirty="0">
                <a:cs typeface="+mn-ea"/>
                <a:sym typeface="+mn-lt"/>
              </a:rPr>
              <a:t>算法创新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6469538" y="2948065"/>
            <a:ext cx="2294021" cy="354924"/>
          </a:xfrm>
          <a:prstGeom prst="roundRect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dirty="0">
                <a:cs typeface="+mn-ea"/>
                <a:sym typeface="+mn-lt"/>
              </a:rPr>
              <a:t>叶片设计优化</a:t>
            </a:r>
          </a:p>
        </p:txBody>
      </p:sp>
      <p:sp>
        <p:nvSpPr>
          <p:cNvPr id="25" name="圆角矩形 24"/>
          <p:cNvSpPr/>
          <p:nvPr/>
        </p:nvSpPr>
        <p:spPr>
          <a:xfrm>
            <a:off x="6545103" y="4529654"/>
            <a:ext cx="2294021" cy="354924"/>
          </a:xfrm>
          <a:prstGeom prst="roundRect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dirty="0">
                <a:cs typeface="+mn-ea"/>
                <a:sym typeface="+mn-lt"/>
              </a:rPr>
              <a:t>风能转化效率提高</a:t>
            </a:r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987B8-B058-EE29-16EB-98CB0F6D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D889615-98F8-E74B-A198-0717DC556EAB}"/>
              </a:ext>
            </a:extLst>
          </p:cNvPr>
          <p:cNvSpPr txBox="1"/>
          <p:nvPr/>
        </p:nvSpPr>
        <p:spPr>
          <a:xfrm>
            <a:off x="904013" y="567407"/>
            <a:ext cx="39933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MPPT</a:t>
            </a:r>
            <a:r>
              <a:rPr lang="zh-CN" altLang="en-US" sz="2800" dirty="0"/>
              <a:t>算法改进思路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63A59AB-3214-439D-B2C7-4328FE0E36DD}"/>
              </a:ext>
            </a:extLst>
          </p:cNvPr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9E159394-EAAD-0C13-FB1C-A7CC1633016C}"/>
              </a:ext>
            </a:extLst>
          </p:cNvPr>
          <p:cNvSpPr/>
          <p:nvPr/>
        </p:nvSpPr>
        <p:spPr>
          <a:xfrm rot="10800000">
            <a:off x="3096166" y="4767385"/>
            <a:ext cx="903342" cy="907646"/>
          </a:xfrm>
          <a:custGeom>
            <a:avLst/>
            <a:gdLst>
              <a:gd name="connsiteX0" fmla="*/ 1027597 w 2818805"/>
              <a:gd name="connsiteY0" fmla="*/ 2055195 h 2055195"/>
              <a:gd name="connsiteX1" fmla="*/ 254013 w 2818805"/>
              <a:gd name="connsiteY1" fmla="*/ 1281610 h 2055195"/>
              <a:gd name="connsiteX2" fmla="*/ 0 w 2818805"/>
              <a:gd name="connsiteY2" fmla="*/ 1027597 h 2055195"/>
              <a:gd name="connsiteX3" fmla="*/ 254013 w 2818805"/>
              <a:gd name="connsiteY3" fmla="*/ 773585 h 2055195"/>
              <a:gd name="connsiteX4" fmla="*/ 1027597 w 2818805"/>
              <a:gd name="connsiteY4" fmla="*/ 0 h 2055195"/>
              <a:gd name="connsiteX5" fmla="*/ 1281610 w 2818805"/>
              <a:gd name="connsiteY5" fmla="*/ 254013 h 2055195"/>
              <a:gd name="connsiteX6" fmla="*/ 668098 w 2818805"/>
              <a:gd name="connsiteY6" fmla="*/ 867524 h 2055195"/>
              <a:gd name="connsiteX7" fmla="*/ 2818805 w 2818805"/>
              <a:gd name="connsiteY7" fmla="*/ 867524 h 2055195"/>
              <a:gd name="connsiteX8" fmla="*/ 2818805 w 2818805"/>
              <a:gd name="connsiteY8" fmla="*/ 1187670 h 2055195"/>
              <a:gd name="connsiteX9" fmla="*/ 668098 w 2818805"/>
              <a:gd name="connsiteY9" fmla="*/ 1187670 h 2055195"/>
              <a:gd name="connsiteX10" fmla="*/ 1281610 w 2818805"/>
              <a:gd name="connsiteY10" fmla="*/ 1801182 h 205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18805" h="2055195">
                <a:moveTo>
                  <a:pt x="1027597" y="2055195"/>
                </a:moveTo>
                <a:lnTo>
                  <a:pt x="254013" y="1281610"/>
                </a:lnTo>
                <a:lnTo>
                  <a:pt x="0" y="1027597"/>
                </a:lnTo>
                <a:lnTo>
                  <a:pt x="254013" y="773585"/>
                </a:lnTo>
                <a:lnTo>
                  <a:pt x="1027597" y="0"/>
                </a:lnTo>
                <a:lnTo>
                  <a:pt x="1281610" y="254013"/>
                </a:lnTo>
                <a:lnTo>
                  <a:pt x="668098" y="867524"/>
                </a:lnTo>
                <a:lnTo>
                  <a:pt x="2818805" y="867524"/>
                </a:lnTo>
                <a:lnTo>
                  <a:pt x="2818805" y="1187670"/>
                </a:lnTo>
                <a:lnTo>
                  <a:pt x="668098" y="1187670"/>
                </a:lnTo>
                <a:lnTo>
                  <a:pt x="1281610" y="1801182"/>
                </a:lnTo>
                <a:close/>
              </a:path>
            </a:pathLst>
          </a:cu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AA62A2-36F0-CB98-5FC3-FBEB1330360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83876" y="3902705"/>
            <a:ext cx="74069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4753E00-373B-2F31-DF97-17F31CB4BDE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343004" y="3565520"/>
            <a:ext cx="28651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·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9794784-094A-1CD5-B292-352E917ED16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01444" y="4486270"/>
            <a:ext cx="2411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传统</a:t>
            </a:r>
            <a:r>
              <a:rPr lang="en-US" altLang="zh-CN" b="1" dirty="0"/>
              <a:t> MPPT </a:t>
            </a:r>
            <a:r>
              <a:rPr lang="zh-CN" altLang="zh-CN" b="1" dirty="0"/>
              <a:t>控制算法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595FB0D-5433-CA10-7B17-04EB152C3DD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69928" y="5259533"/>
            <a:ext cx="2481661" cy="830997"/>
          </a:xfrm>
          <a:prstGeom prst="rect">
            <a:avLst/>
          </a:prstGeom>
          <a:solidFill>
            <a:srgbClr val="D4D4D4"/>
          </a:solidFill>
          <a:ln>
            <a:solidFill>
              <a:srgbClr val="D4D4D4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altLang="zh-CN" sz="1600" b="1" dirty="0"/>
              <a:t>1.  </a:t>
            </a:r>
            <a:r>
              <a:rPr lang="zh-CN" altLang="zh-CN" sz="1600" b="1" dirty="0"/>
              <a:t>扰动观察法（</a:t>
            </a:r>
            <a:r>
              <a:rPr lang="en-US" altLang="zh-CN" sz="1600" b="1" dirty="0"/>
              <a:t> P&amp;O </a:t>
            </a:r>
            <a:r>
              <a:rPr lang="zh-CN" altLang="zh-CN" sz="1600" b="1" dirty="0"/>
              <a:t>）</a:t>
            </a:r>
            <a:endParaRPr lang="en-US" altLang="zh-CN" sz="1600" b="1" dirty="0"/>
          </a:p>
          <a:p>
            <a:pPr lvl="0"/>
            <a:endParaRPr lang="en-US" altLang="zh-CN" sz="1600" b="1" dirty="0"/>
          </a:p>
          <a:p>
            <a:pPr lvl="0"/>
            <a:r>
              <a:rPr lang="en-US" altLang="zh-CN" sz="1600" b="1" dirty="0"/>
              <a:t>2.  </a:t>
            </a:r>
            <a:r>
              <a:rPr lang="zh-CN" altLang="zh-CN" sz="1600" b="1" dirty="0"/>
              <a:t>叶尖速比控制</a:t>
            </a:r>
            <a:r>
              <a:rPr lang="zh-CN" altLang="en-US" sz="1600" b="1" dirty="0"/>
              <a:t>（ </a:t>
            </a:r>
            <a:r>
              <a:rPr lang="en-US" altLang="zh-CN" sz="1600" b="1" dirty="0"/>
              <a:t>TSR </a:t>
            </a:r>
            <a:r>
              <a:rPr lang="zh-CN" altLang="zh-CN" sz="1600" b="1" dirty="0"/>
              <a:t>）</a:t>
            </a:r>
            <a:endParaRPr lang="zh-CN" altLang="zh-CN" sz="1600" dirty="0"/>
          </a:p>
        </p:txBody>
      </p: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0C39D06C-4BEC-5B44-51C7-36DDE86A93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D1C1AAA-D1CD-B65C-B5FE-6A7617E8857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7381" y="1358069"/>
            <a:ext cx="5621843" cy="21394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3C96575-BDFB-8F67-2405-2A45158C11F9}"/>
              </a:ext>
            </a:extLst>
          </p:cNvPr>
          <p:cNvCxnSpPr/>
          <p:nvPr/>
        </p:nvCxnSpPr>
        <p:spPr>
          <a:xfrm flipH="1" flipV="1">
            <a:off x="4739194" y="2892673"/>
            <a:ext cx="360000" cy="25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443341A7-A77D-A6CA-1EDE-84818778BE56}"/>
              </a:ext>
            </a:extLst>
          </p:cNvPr>
          <p:cNvSpPr txBox="1"/>
          <p:nvPr/>
        </p:nvSpPr>
        <p:spPr>
          <a:xfrm>
            <a:off x="5020455" y="2989892"/>
            <a:ext cx="956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MPPT</a:t>
            </a:r>
            <a:r>
              <a:rPr lang="zh-CN" altLang="en-US" sz="1200" dirty="0"/>
              <a:t>作用位置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989D3851-242C-5CAB-D1EB-7CB12EE0F0F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63767" y="1236357"/>
            <a:ext cx="4289086" cy="259741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80CEE59-CAB1-D5CB-A50E-0C6B5975AA8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385093" y="3885646"/>
            <a:ext cx="74069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02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C4701F-7B9F-041E-4C13-F98F2BD579B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083687" y="4390077"/>
            <a:ext cx="1579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智能控制算法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AB9914-62C0-B757-C42F-C919DBDB555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344086" y="4973642"/>
            <a:ext cx="3101048" cy="1815882"/>
          </a:xfrm>
          <a:prstGeom prst="rect">
            <a:avLst/>
          </a:prstGeom>
          <a:solidFill>
            <a:srgbClr val="D4D4D4"/>
          </a:solidFill>
          <a:ln>
            <a:solidFill>
              <a:srgbClr val="D4D4D4"/>
            </a:solidFill>
          </a:ln>
        </p:spPr>
        <p:txBody>
          <a:bodyPr wrap="square" rtlCol="0">
            <a:spAutoFit/>
          </a:bodyPr>
          <a:lstStyle/>
          <a:p>
            <a:pPr marL="342900" lvl="0" indent="-342900">
              <a:buAutoNum type="arabicPeriod"/>
            </a:pPr>
            <a:r>
              <a:rPr lang="zh-CN" altLang="en-US" sz="1600" b="1" dirty="0"/>
              <a:t>基于</a:t>
            </a:r>
            <a:r>
              <a:rPr lang="zh-CN" altLang="zh-CN" sz="1600" b="1" dirty="0"/>
              <a:t>模糊</a:t>
            </a:r>
            <a:r>
              <a:rPr lang="zh-CN" altLang="en-US" sz="1600" b="1" dirty="0"/>
              <a:t>逻辑</a:t>
            </a:r>
            <a:r>
              <a:rPr lang="zh-CN" altLang="zh-CN" sz="1600" b="1" dirty="0"/>
              <a:t>控制</a:t>
            </a:r>
            <a:r>
              <a:rPr lang="zh-CN" altLang="en-US" sz="1600" b="1" dirty="0"/>
              <a:t>的</a:t>
            </a:r>
            <a:r>
              <a:rPr lang="en-US" altLang="zh-CN" sz="1600" b="1" dirty="0"/>
              <a:t>MPPT</a:t>
            </a:r>
            <a:r>
              <a:rPr lang="zh-CN" altLang="en-US" sz="1600" b="1" dirty="0"/>
              <a:t>方法</a:t>
            </a:r>
            <a:r>
              <a:rPr lang="zh-CN" altLang="zh-CN" sz="1600" b="1" dirty="0"/>
              <a:t>（</a:t>
            </a:r>
            <a:r>
              <a:rPr lang="en-US" altLang="zh-CN" sz="1600" b="1" dirty="0"/>
              <a:t> Fuzzy Logic Control</a:t>
            </a:r>
            <a:r>
              <a:rPr lang="zh-CN" altLang="zh-CN" sz="1600" b="1" dirty="0"/>
              <a:t>）</a:t>
            </a:r>
            <a:endParaRPr lang="en-US" altLang="zh-CN" sz="1600" b="1" dirty="0"/>
          </a:p>
          <a:p>
            <a:pPr marL="342900" lvl="0" indent="-342900">
              <a:buAutoNum type="arabicPeriod"/>
            </a:pPr>
            <a:endParaRPr lang="en-US" altLang="zh-CN" sz="1600" b="1" dirty="0"/>
          </a:p>
          <a:p>
            <a:pPr marL="342900" lvl="0" indent="-342900">
              <a:buAutoNum type="arabicPeriod"/>
            </a:pPr>
            <a:r>
              <a:rPr lang="zh-CN" altLang="en-US" sz="1600" b="1" dirty="0"/>
              <a:t>基于</a:t>
            </a:r>
            <a:r>
              <a:rPr lang="zh-CN" altLang="zh-CN" sz="1600" b="1" dirty="0"/>
              <a:t>神经网络</a:t>
            </a:r>
            <a:r>
              <a:rPr lang="zh-CN" altLang="en-US" sz="1600" b="1" dirty="0"/>
              <a:t>的</a:t>
            </a:r>
            <a:r>
              <a:rPr lang="en-US" altLang="zh-CN" sz="1600" b="1" dirty="0"/>
              <a:t>MPPT</a:t>
            </a:r>
            <a:r>
              <a:rPr lang="zh-CN" altLang="en-US" sz="1600" b="1" dirty="0"/>
              <a:t>方法（</a:t>
            </a:r>
            <a:r>
              <a:rPr lang="en-US" altLang="zh-CN" sz="1600" b="1" dirty="0"/>
              <a:t> Neural Network </a:t>
            </a:r>
            <a:r>
              <a:rPr lang="zh-CN" altLang="en-US" sz="1600" b="1" dirty="0"/>
              <a:t>）</a:t>
            </a:r>
            <a:endParaRPr lang="zh-CN" altLang="zh-CN" sz="1600" dirty="0"/>
          </a:p>
          <a:p>
            <a:pPr lvl="0"/>
            <a:endParaRPr lang="zh-CN" altLang="zh-CN" sz="1600" dirty="0"/>
          </a:p>
        </p:txBody>
      </p:sp>
      <p:sp>
        <p:nvSpPr>
          <p:cNvPr id="10" name="任意多边形 10">
            <a:extLst>
              <a:ext uri="{FF2B5EF4-FFF2-40B4-BE49-F238E27FC236}">
                <a16:creationId xmlns:a16="http://schemas.microsoft.com/office/drawing/2014/main" id="{C23C48B5-8942-AD3D-3793-992869E7C038}"/>
              </a:ext>
            </a:extLst>
          </p:cNvPr>
          <p:cNvSpPr/>
          <p:nvPr/>
        </p:nvSpPr>
        <p:spPr>
          <a:xfrm rot="10800000">
            <a:off x="7740823" y="4767385"/>
            <a:ext cx="903342" cy="907646"/>
          </a:xfrm>
          <a:custGeom>
            <a:avLst/>
            <a:gdLst>
              <a:gd name="connsiteX0" fmla="*/ 1027597 w 2818805"/>
              <a:gd name="connsiteY0" fmla="*/ 2055195 h 2055195"/>
              <a:gd name="connsiteX1" fmla="*/ 254013 w 2818805"/>
              <a:gd name="connsiteY1" fmla="*/ 1281610 h 2055195"/>
              <a:gd name="connsiteX2" fmla="*/ 0 w 2818805"/>
              <a:gd name="connsiteY2" fmla="*/ 1027597 h 2055195"/>
              <a:gd name="connsiteX3" fmla="*/ 254013 w 2818805"/>
              <a:gd name="connsiteY3" fmla="*/ 773585 h 2055195"/>
              <a:gd name="connsiteX4" fmla="*/ 1027597 w 2818805"/>
              <a:gd name="connsiteY4" fmla="*/ 0 h 2055195"/>
              <a:gd name="connsiteX5" fmla="*/ 1281610 w 2818805"/>
              <a:gd name="connsiteY5" fmla="*/ 254013 h 2055195"/>
              <a:gd name="connsiteX6" fmla="*/ 668098 w 2818805"/>
              <a:gd name="connsiteY6" fmla="*/ 867524 h 2055195"/>
              <a:gd name="connsiteX7" fmla="*/ 2818805 w 2818805"/>
              <a:gd name="connsiteY7" fmla="*/ 867524 h 2055195"/>
              <a:gd name="connsiteX8" fmla="*/ 2818805 w 2818805"/>
              <a:gd name="connsiteY8" fmla="*/ 1187670 h 2055195"/>
              <a:gd name="connsiteX9" fmla="*/ 668098 w 2818805"/>
              <a:gd name="connsiteY9" fmla="*/ 1187670 h 2055195"/>
              <a:gd name="connsiteX10" fmla="*/ 1281610 w 2818805"/>
              <a:gd name="connsiteY10" fmla="*/ 1801182 h 205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18805" h="2055195">
                <a:moveTo>
                  <a:pt x="1027597" y="2055195"/>
                </a:moveTo>
                <a:lnTo>
                  <a:pt x="254013" y="1281610"/>
                </a:lnTo>
                <a:lnTo>
                  <a:pt x="0" y="1027597"/>
                </a:lnTo>
                <a:lnTo>
                  <a:pt x="254013" y="773585"/>
                </a:lnTo>
                <a:lnTo>
                  <a:pt x="1027597" y="0"/>
                </a:lnTo>
                <a:lnTo>
                  <a:pt x="1281610" y="254013"/>
                </a:lnTo>
                <a:lnTo>
                  <a:pt x="668098" y="867524"/>
                </a:lnTo>
                <a:lnTo>
                  <a:pt x="2818805" y="867524"/>
                </a:lnTo>
                <a:lnTo>
                  <a:pt x="2818805" y="1187670"/>
                </a:lnTo>
                <a:lnTo>
                  <a:pt x="668098" y="1187670"/>
                </a:lnTo>
                <a:lnTo>
                  <a:pt x="1281610" y="1801182"/>
                </a:lnTo>
                <a:close/>
              </a:path>
            </a:pathLst>
          </a:cu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39F781F-F866-909C-301D-66DF9EDCE33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0176605" y="3902705"/>
            <a:ext cx="74069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03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AADC92F-6D38-7328-DC4A-CDE0052130C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757126" y="4390077"/>
            <a:ext cx="1579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高级优化算法</a:t>
            </a:r>
            <a:endParaRPr lang="zh-CN" altLang="zh-CN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9A8754-DE53-EC69-A3A9-926B707FF15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996426" y="4973642"/>
            <a:ext cx="3101048" cy="1815882"/>
          </a:xfrm>
          <a:prstGeom prst="rect">
            <a:avLst/>
          </a:prstGeom>
          <a:solidFill>
            <a:srgbClr val="D4D4D4"/>
          </a:solidFill>
          <a:ln>
            <a:solidFill>
              <a:srgbClr val="D4D4D4"/>
            </a:solidFill>
          </a:ln>
        </p:spPr>
        <p:txBody>
          <a:bodyPr wrap="square" rtlCol="0">
            <a:spAutoFit/>
          </a:bodyPr>
          <a:lstStyle/>
          <a:p>
            <a:pPr marL="342900" lvl="0" indent="-342900">
              <a:buAutoNum type="arabicPeriod"/>
            </a:pPr>
            <a:r>
              <a:rPr lang="zh-CN" altLang="en-US" sz="1600" b="1" dirty="0"/>
              <a:t>基于</a:t>
            </a:r>
            <a:r>
              <a:rPr lang="zh-CN" altLang="zh-CN" sz="1600" b="1" dirty="0"/>
              <a:t>粒子群优化</a:t>
            </a:r>
            <a:r>
              <a:rPr lang="zh-CN" altLang="en-US" sz="1600" b="1" dirty="0"/>
              <a:t>的</a:t>
            </a:r>
            <a:r>
              <a:rPr lang="en-US" altLang="zh-CN" sz="1600" b="1" dirty="0"/>
              <a:t>MPPT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PSO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marL="342900" lvl="0" indent="-342900">
              <a:buAutoNum type="arabicPeriod"/>
            </a:pPr>
            <a:endParaRPr lang="en-US" altLang="zh-CN" sz="1600" b="1" dirty="0"/>
          </a:p>
          <a:p>
            <a:pPr marL="342900" lvl="0" indent="-342900">
              <a:buAutoNum type="arabicPeriod"/>
            </a:pPr>
            <a:r>
              <a:rPr lang="zh-CN" altLang="en-US" sz="1600" b="1" dirty="0"/>
              <a:t>基于</a:t>
            </a:r>
            <a:r>
              <a:rPr lang="zh-CN" altLang="zh-CN" sz="1600" b="1" dirty="0"/>
              <a:t>强化学习</a:t>
            </a:r>
            <a:r>
              <a:rPr lang="zh-CN" altLang="en-US" sz="1600" b="1" dirty="0"/>
              <a:t>的</a:t>
            </a:r>
            <a:r>
              <a:rPr lang="en-US" altLang="zh-CN" sz="1600" b="1" dirty="0"/>
              <a:t>MPPT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RL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marL="342900" lvl="0" indent="-342900">
              <a:buAutoNum type="arabicPeriod"/>
            </a:pPr>
            <a:endParaRPr lang="en-US" altLang="zh-CN" sz="1600" b="1" dirty="0"/>
          </a:p>
          <a:p>
            <a:pPr marL="342900" lvl="0" indent="-342900">
              <a:buAutoNum type="arabicPeriod"/>
            </a:pPr>
            <a:r>
              <a:rPr lang="zh-CN" altLang="zh-CN" sz="1600" b="1" dirty="0"/>
              <a:t>混合型</a:t>
            </a:r>
            <a:r>
              <a:rPr lang="en-US" altLang="zh-CN" sz="1600" b="1" dirty="0"/>
              <a:t> MPPT </a:t>
            </a:r>
            <a:r>
              <a:rPr lang="zh-CN" altLang="zh-CN" sz="1600" b="1" dirty="0"/>
              <a:t>算法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Hybrid MPPT</a:t>
            </a:r>
            <a:r>
              <a:rPr lang="zh-CN" altLang="en-US" sz="1600" b="1" dirty="0"/>
              <a:t>）</a:t>
            </a:r>
            <a:endParaRPr lang="zh-CN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818332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04013" y="567407"/>
            <a:ext cx="253845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项目目标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1"/>
            </p:custDataLst>
          </p:nvPr>
        </p:nvSpPr>
        <p:spPr>
          <a:xfrm rot="8100000">
            <a:off x="7617707" y="546167"/>
            <a:ext cx="2818805" cy="2055195"/>
          </a:xfrm>
          <a:custGeom>
            <a:avLst/>
            <a:gdLst>
              <a:gd name="connsiteX0" fmla="*/ 1027597 w 2818805"/>
              <a:gd name="connsiteY0" fmla="*/ 2055195 h 2055195"/>
              <a:gd name="connsiteX1" fmla="*/ 254013 w 2818805"/>
              <a:gd name="connsiteY1" fmla="*/ 1281610 h 2055195"/>
              <a:gd name="connsiteX2" fmla="*/ 0 w 2818805"/>
              <a:gd name="connsiteY2" fmla="*/ 1027597 h 2055195"/>
              <a:gd name="connsiteX3" fmla="*/ 254013 w 2818805"/>
              <a:gd name="connsiteY3" fmla="*/ 773585 h 2055195"/>
              <a:gd name="connsiteX4" fmla="*/ 1027597 w 2818805"/>
              <a:gd name="connsiteY4" fmla="*/ 0 h 2055195"/>
              <a:gd name="connsiteX5" fmla="*/ 1281610 w 2818805"/>
              <a:gd name="connsiteY5" fmla="*/ 254013 h 2055195"/>
              <a:gd name="connsiteX6" fmla="*/ 668098 w 2818805"/>
              <a:gd name="connsiteY6" fmla="*/ 867524 h 2055195"/>
              <a:gd name="connsiteX7" fmla="*/ 2818805 w 2818805"/>
              <a:gd name="connsiteY7" fmla="*/ 867524 h 2055195"/>
              <a:gd name="connsiteX8" fmla="*/ 2818805 w 2818805"/>
              <a:gd name="connsiteY8" fmla="*/ 1187670 h 2055195"/>
              <a:gd name="connsiteX9" fmla="*/ 668098 w 2818805"/>
              <a:gd name="connsiteY9" fmla="*/ 1187670 h 2055195"/>
              <a:gd name="connsiteX10" fmla="*/ 1281610 w 2818805"/>
              <a:gd name="connsiteY10" fmla="*/ 1801182 h 205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18805" h="2055195">
                <a:moveTo>
                  <a:pt x="1027597" y="2055195"/>
                </a:moveTo>
                <a:lnTo>
                  <a:pt x="254013" y="1281610"/>
                </a:lnTo>
                <a:lnTo>
                  <a:pt x="0" y="1027597"/>
                </a:lnTo>
                <a:lnTo>
                  <a:pt x="254013" y="773585"/>
                </a:lnTo>
                <a:lnTo>
                  <a:pt x="1027597" y="0"/>
                </a:lnTo>
                <a:lnTo>
                  <a:pt x="1281610" y="254013"/>
                </a:lnTo>
                <a:lnTo>
                  <a:pt x="668098" y="867524"/>
                </a:lnTo>
                <a:lnTo>
                  <a:pt x="2818805" y="867524"/>
                </a:lnTo>
                <a:lnTo>
                  <a:pt x="2818805" y="1187670"/>
                </a:lnTo>
                <a:lnTo>
                  <a:pt x="668098" y="1187670"/>
                </a:lnTo>
                <a:lnTo>
                  <a:pt x="1281610" y="180118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>
            <p:custDataLst>
              <p:tags r:id="rId2"/>
            </p:custDataLst>
          </p:nvPr>
        </p:nvSpPr>
        <p:spPr>
          <a:xfrm rot="8100000">
            <a:off x="5211184" y="1317331"/>
            <a:ext cx="2818805" cy="2055195"/>
          </a:xfrm>
          <a:custGeom>
            <a:avLst/>
            <a:gdLst>
              <a:gd name="connsiteX0" fmla="*/ 1027597 w 2818805"/>
              <a:gd name="connsiteY0" fmla="*/ 2055195 h 2055195"/>
              <a:gd name="connsiteX1" fmla="*/ 254013 w 2818805"/>
              <a:gd name="connsiteY1" fmla="*/ 1281610 h 2055195"/>
              <a:gd name="connsiteX2" fmla="*/ 0 w 2818805"/>
              <a:gd name="connsiteY2" fmla="*/ 1027597 h 2055195"/>
              <a:gd name="connsiteX3" fmla="*/ 254013 w 2818805"/>
              <a:gd name="connsiteY3" fmla="*/ 773585 h 2055195"/>
              <a:gd name="connsiteX4" fmla="*/ 1027597 w 2818805"/>
              <a:gd name="connsiteY4" fmla="*/ 0 h 2055195"/>
              <a:gd name="connsiteX5" fmla="*/ 1281610 w 2818805"/>
              <a:gd name="connsiteY5" fmla="*/ 254013 h 2055195"/>
              <a:gd name="connsiteX6" fmla="*/ 668098 w 2818805"/>
              <a:gd name="connsiteY6" fmla="*/ 867524 h 2055195"/>
              <a:gd name="connsiteX7" fmla="*/ 2818805 w 2818805"/>
              <a:gd name="connsiteY7" fmla="*/ 867524 h 2055195"/>
              <a:gd name="connsiteX8" fmla="*/ 2818805 w 2818805"/>
              <a:gd name="connsiteY8" fmla="*/ 1187670 h 2055195"/>
              <a:gd name="connsiteX9" fmla="*/ 668098 w 2818805"/>
              <a:gd name="connsiteY9" fmla="*/ 1187670 h 2055195"/>
              <a:gd name="connsiteX10" fmla="*/ 1281610 w 2818805"/>
              <a:gd name="connsiteY10" fmla="*/ 1801182 h 205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18805" h="2055195">
                <a:moveTo>
                  <a:pt x="1027597" y="2055195"/>
                </a:moveTo>
                <a:lnTo>
                  <a:pt x="254013" y="1281610"/>
                </a:lnTo>
                <a:lnTo>
                  <a:pt x="0" y="1027597"/>
                </a:lnTo>
                <a:lnTo>
                  <a:pt x="254013" y="773585"/>
                </a:lnTo>
                <a:lnTo>
                  <a:pt x="1027597" y="0"/>
                </a:lnTo>
                <a:lnTo>
                  <a:pt x="1281610" y="254013"/>
                </a:lnTo>
                <a:lnTo>
                  <a:pt x="668098" y="867524"/>
                </a:lnTo>
                <a:lnTo>
                  <a:pt x="2818805" y="867524"/>
                </a:lnTo>
                <a:lnTo>
                  <a:pt x="2818805" y="1187670"/>
                </a:lnTo>
                <a:lnTo>
                  <a:pt x="668098" y="1187670"/>
                </a:lnTo>
                <a:lnTo>
                  <a:pt x="1281610" y="1801182"/>
                </a:lnTo>
                <a:close/>
              </a:path>
            </a:pathLst>
          </a:cu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任意多边形 9"/>
          <p:cNvSpPr/>
          <p:nvPr>
            <p:custDataLst>
              <p:tags r:id="rId3"/>
            </p:custDataLst>
          </p:nvPr>
        </p:nvSpPr>
        <p:spPr>
          <a:xfrm rot="8100000">
            <a:off x="2979920" y="2332172"/>
            <a:ext cx="2818805" cy="2055195"/>
          </a:xfrm>
          <a:custGeom>
            <a:avLst/>
            <a:gdLst>
              <a:gd name="connsiteX0" fmla="*/ 1027597 w 2818805"/>
              <a:gd name="connsiteY0" fmla="*/ 2055195 h 2055195"/>
              <a:gd name="connsiteX1" fmla="*/ 254013 w 2818805"/>
              <a:gd name="connsiteY1" fmla="*/ 1281610 h 2055195"/>
              <a:gd name="connsiteX2" fmla="*/ 0 w 2818805"/>
              <a:gd name="connsiteY2" fmla="*/ 1027597 h 2055195"/>
              <a:gd name="connsiteX3" fmla="*/ 254013 w 2818805"/>
              <a:gd name="connsiteY3" fmla="*/ 773585 h 2055195"/>
              <a:gd name="connsiteX4" fmla="*/ 1027597 w 2818805"/>
              <a:gd name="connsiteY4" fmla="*/ 0 h 2055195"/>
              <a:gd name="connsiteX5" fmla="*/ 1281610 w 2818805"/>
              <a:gd name="connsiteY5" fmla="*/ 254013 h 2055195"/>
              <a:gd name="connsiteX6" fmla="*/ 668098 w 2818805"/>
              <a:gd name="connsiteY6" fmla="*/ 867524 h 2055195"/>
              <a:gd name="connsiteX7" fmla="*/ 2818805 w 2818805"/>
              <a:gd name="connsiteY7" fmla="*/ 867524 h 2055195"/>
              <a:gd name="connsiteX8" fmla="*/ 2818805 w 2818805"/>
              <a:gd name="connsiteY8" fmla="*/ 1187670 h 2055195"/>
              <a:gd name="connsiteX9" fmla="*/ 668098 w 2818805"/>
              <a:gd name="connsiteY9" fmla="*/ 1187670 h 2055195"/>
              <a:gd name="connsiteX10" fmla="*/ 1281610 w 2818805"/>
              <a:gd name="connsiteY10" fmla="*/ 1801182 h 205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18805" h="2055195">
                <a:moveTo>
                  <a:pt x="1027597" y="2055195"/>
                </a:moveTo>
                <a:lnTo>
                  <a:pt x="254013" y="1281610"/>
                </a:lnTo>
                <a:lnTo>
                  <a:pt x="0" y="1027597"/>
                </a:lnTo>
                <a:lnTo>
                  <a:pt x="254013" y="773585"/>
                </a:lnTo>
                <a:lnTo>
                  <a:pt x="1027597" y="0"/>
                </a:lnTo>
                <a:lnTo>
                  <a:pt x="1281610" y="254013"/>
                </a:lnTo>
                <a:lnTo>
                  <a:pt x="668098" y="867524"/>
                </a:lnTo>
                <a:lnTo>
                  <a:pt x="2818805" y="867524"/>
                </a:lnTo>
                <a:lnTo>
                  <a:pt x="2818805" y="1187670"/>
                </a:lnTo>
                <a:lnTo>
                  <a:pt x="668098" y="1187670"/>
                </a:lnTo>
                <a:lnTo>
                  <a:pt x="1281610" y="180118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任意多边形 10"/>
          <p:cNvSpPr/>
          <p:nvPr/>
        </p:nvSpPr>
        <p:spPr>
          <a:xfrm rot="8100000">
            <a:off x="526287" y="3161761"/>
            <a:ext cx="2818805" cy="2055195"/>
          </a:xfrm>
          <a:custGeom>
            <a:avLst/>
            <a:gdLst>
              <a:gd name="connsiteX0" fmla="*/ 1027597 w 2818805"/>
              <a:gd name="connsiteY0" fmla="*/ 2055195 h 2055195"/>
              <a:gd name="connsiteX1" fmla="*/ 254013 w 2818805"/>
              <a:gd name="connsiteY1" fmla="*/ 1281610 h 2055195"/>
              <a:gd name="connsiteX2" fmla="*/ 0 w 2818805"/>
              <a:gd name="connsiteY2" fmla="*/ 1027597 h 2055195"/>
              <a:gd name="connsiteX3" fmla="*/ 254013 w 2818805"/>
              <a:gd name="connsiteY3" fmla="*/ 773585 h 2055195"/>
              <a:gd name="connsiteX4" fmla="*/ 1027597 w 2818805"/>
              <a:gd name="connsiteY4" fmla="*/ 0 h 2055195"/>
              <a:gd name="connsiteX5" fmla="*/ 1281610 w 2818805"/>
              <a:gd name="connsiteY5" fmla="*/ 254013 h 2055195"/>
              <a:gd name="connsiteX6" fmla="*/ 668098 w 2818805"/>
              <a:gd name="connsiteY6" fmla="*/ 867524 h 2055195"/>
              <a:gd name="connsiteX7" fmla="*/ 2818805 w 2818805"/>
              <a:gd name="connsiteY7" fmla="*/ 867524 h 2055195"/>
              <a:gd name="connsiteX8" fmla="*/ 2818805 w 2818805"/>
              <a:gd name="connsiteY8" fmla="*/ 1187670 h 2055195"/>
              <a:gd name="connsiteX9" fmla="*/ 668098 w 2818805"/>
              <a:gd name="connsiteY9" fmla="*/ 1187670 h 2055195"/>
              <a:gd name="connsiteX10" fmla="*/ 1281610 w 2818805"/>
              <a:gd name="connsiteY10" fmla="*/ 1801182 h 205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18805" h="2055195">
                <a:moveTo>
                  <a:pt x="1027597" y="2055195"/>
                </a:moveTo>
                <a:lnTo>
                  <a:pt x="254013" y="1281610"/>
                </a:lnTo>
                <a:lnTo>
                  <a:pt x="0" y="1027597"/>
                </a:lnTo>
                <a:lnTo>
                  <a:pt x="254013" y="773585"/>
                </a:lnTo>
                <a:lnTo>
                  <a:pt x="1027597" y="0"/>
                </a:lnTo>
                <a:lnTo>
                  <a:pt x="1281610" y="254013"/>
                </a:lnTo>
                <a:lnTo>
                  <a:pt x="668098" y="867524"/>
                </a:lnTo>
                <a:lnTo>
                  <a:pt x="2818805" y="867524"/>
                </a:lnTo>
                <a:lnTo>
                  <a:pt x="2818805" y="1187670"/>
                </a:lnTo>
                <a:lnTo>
                  <a:pt x="668098" y="1187670"/>
                </a:lnTo>
                <a:lnTo>
                  <a:pt x="1281610" y="1801182"/>
                </a:lnTo>
                <a:close/>
              </a:path>
            </a:pathLst>
          </a:cu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803342" y="4549213"/>
            <a:ext cx="74069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4537417" y="3897765"/>
            <a:ext cx="74069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02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6563430" y="3144675"/>
            <a:ext cx="74069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03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8996562" y="2400911"/>
            <a:ext cx="74069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04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8674474" y="3083080"/>
            <a:ext cx="22250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系统有效运行</a:t>
            </a:r>
          </a:p>
          <a:p>
            <a:pPr algn="l">
              <a:buClrTx/>
              <a:buSzTx/>
              <a:buFontTx/>
            </a:pP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9"/>
            </p:custDataLst>
          </p:nvPr>
        </p:nvSpPr>
        <p:spPr>
          <a:xfrm>
            <a:off x="8343004" y="3565520"/>
            <a:ext cx="28651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·</a:t>
            </a:r>
          </a:p>
        </p:txBody>
      </p: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6449763" y="3793581"/>
            <a:ext cx="2225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构建完整系统</a:t>
            </a:r>
          </a:p>
        </p:txBody>
      </p:sp>
      <p:sp>
        <p:nvSpPr>
          <p:cNvPr id="19" name="文本框 18"/>
          <p:cNvSpPr txBox="1"/>
          <p:nvPr>
            <p:custDataLst>
              <p:tags r:id="rId11"/>
            </p:custDataLst>
          </p:nvPr>
        </p:nvSpPr>
        <p:spPr>
          <a:xfrm>
            <a:off x="6156960" y="4154805"/>
            <a:ext cx="2444115" cy="834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结合电路、叶片、有效发电装置等结构，构建完整的风速发电机</a:t>
            </a:r>
          </a:p>
        </p:txBody>
      </p:sp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3658870" y="4555490"/>
            <a:ext cx="2350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初步组装搭配与测试</a:t>
            </a:r>
          </a:p>
        </p:txBody>
      </p:sp>
      <p:sp>
        <p:nvSpPr>
          <p:cNvPr id="21" name="文本框 20"/>
          <p:cNvSpPr txBox="1"/>
          <p:nvPr>
            <p:custDataLst>
              <p:tags r:id="rId13"/>
            </p:custDataLst>
          </p:nvPr>
        </p:nvSpPr>
        <p:spPr>
          <a:xfrm>
            <a:off x="3592830" y="4923790"/>
            <a:ext cx="24955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制造叶片，搭建电路，初步测试各个组件性能与适配程度</a:t>
            </a:r>
          </a:p>
        </p:txBody>
      </p:sp>
      <p:sp>
        <p:nvSpPr>
          <p:cNvPr id="22" name="文本框 21"/>
          <p:cNvSpPr txBox="1"/>
          <p:nvPr>
            <p:custDataLst>
              <p:tags r:id="rId14"/>
            </p:custDataLst>
          </p:nvPr>
        </p:nvSpPr>
        <p:spPr>
          <a:xfrm>
            <a:off x="1250315" y="5081905"/>
            <a:ext cx="1977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资源整合与研究</a:t>
            </a:r>
          </a:p>
        </p:txBody>
      </p:sp>
      <p:sp>
        <p:nvSpPr>
          <p:cNvPr id="23" name="文本框 22"/>
          <p:cNvSpPr txBox="1"/>
          <p:nvPr>
            <p:custDataLst>
              <p:tags r:id="rId15"/>
            </p:custDataLst>
          </p:nvPr>
        </p:nvSpPr>
        <p:spPr>
          <a:xfrm>
            <a:off x="796268" y="5450494"/>
            <a:ext cx="28651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采购基础物资，电路元件，轴承组件，单片机等等，设计叶片，研究发电机结构</a:t>
            </a:r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529320" y="3449955"/>
            <a:ext cx="256921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软件与硬件协同运行，能在各种风况下做到高效发电，并在实际环境部署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4340F-3F2F-A2C5-6905-ECD2E6D53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182DFDC-50A8-5CBC-4284-866C7E9F5EC2}"/>
              </a:ext>
            </a:extLst>
          </p:cNvPr>
          <p:cNvSpPr txBox="1"/>
          <p:nvPr/>
        </p:nvSpPr>
        <p:spPr>
          <a:xfrm>
            <a:off x="904013" y="567407"/>
            <a:ext cx="3993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学习资源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——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仿真平台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9C6CE7E-A6A7-C4AE-9563-722F9554A4FB}"/>
              </a:ext>
            </a:extLst>
          </p:cNvPr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3944D001-BF88-ECE9-6FC1-F111BA01AE7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343004" y="3565520"/>
            <a:ext cx="28651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·</a:t>
            </a:r>
          </a:p>
        </p:txBody>
      </p: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D40BFB39-2A91-F499-7886-17273A5FD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6AC94BE-2E3C-A5E8-BA2B-4163E3FC7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2632" y="1098545"/>
            <a:ext cx="5276850" cy="24669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2845FBD-763F-0C29-1D34-763B4331C3A5}"/>
              </a:ext>
            </a:extLst>
          </p:cNvPr>
          <p:cNvSpPr txBox="1"/>
          <p:nvPr/>
        </p:nvSpPr>
        <p:spPr>
          <a:xfrm>
            <a:off x="796413" y="1299114"/>
            <a:ext cx="4689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Simulink</a:t>
            </a:r>
            <a:r>
              <a:rPr lang="zh-CN" altLang="zh-CN" dirty="0"/>
              <a:t>，可作为实现</a:t>
            </a:r>
            <a:r>
              <a:rPr lang="en-US" altLang="zh-CN" dirty="0"/>
              <a:t>MPPT</a:t>
            </a:r>
            <a:r>
              <a:rPr lang="zh-CN" altLang="zh-CN" dirty="0"/>
              <a:t>算法的平台</a:t>
            </a:r>
          </a:p>
          <a:p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D2D0FCA-D43C-7FD8-DB9D-436DF4DD26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761" y="3055181"/>
            <a:ext cx="5238750" cy="371475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BC7ED7C-37C2-3C30-A603-A13BAE59E845}"/>
              </a:ext>
            </a:extLst>
          </p:cNvPr>
          <p:cNvSpPr txBox="1"/>
          <p:nvPr/>
        </p:nvSpPr>
        <p:spPr>
          <a:xfrm>
            <a:off x="6410036" y="4589390"/>
            <a:ext cx="4689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err="1"/>
              <a:t>OpenFAST</a:t>
            </a:r>
            <a:r>
              <a:rPr lang="zh-CN" altLang="zh-CN" b="1" dirty="0"/>
              <a:t>， </a:t>
            </a:r>
            <a:r>
              <a:rPr lang="zh-CN" altLang="zh-CN" dirty="0"/>
              <a:t>是一款开源风力发电机仿真工具。</a:t>
            </a:r>
            <a:r>
              <a:rPr lang="en-US" altLang="zh-CN" dirty="0" err="1"/>
              <a:t>Youtube</a:t>
            </a:r>
            <a:r>
              <a:rPr lang="zh-CN" altLang="zh-CN" dirty="0"/>
              <a:t>上有教程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045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47544-AF23-AED2-9D77-76F829DFA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2E11040-2165-6024-34DC-DB64224CE385}"/>
              </a:ext>
            </a:extLst>
          </p:cNvPr>
          <p:cNvSpPr txBox="1"/>
          <p:nvPr/>
        </p:nvSpPr>
        <p:spPr>
          <a:xfrm>
            <a:off x="904013" y="567407"/>
            <a:ext cx="3993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阅读资料 </a:t>
            </a:r>
            <a:r>
              <a:rPr lang="en-US" altLang="zh-CN" sz="2800" dirty="0"/>
              <a:t>&amp; </a:t>
            </a:r>
            <a:r>
              <a:rPr lang="zh-CN" altLang="en-US" sz="2800" dirty="0"/>
              <a:t>参考文献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C5CB19A-E2C5-7034-1347-81CE94236341}"/>
              </a:ext>
            </a:extLst>
          </p:cNvPr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54232734-E15D-84A4-9547-BDDB61CEFB6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343004" y="3565520"/>
            <a:ext cx="28651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·</a:t>
            </a:r>
          </a:p>
        </p:txBody>
      </p: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EE265BDB-9196-FD94-CBB3-F34AA772E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sp>
        <p:nvSpPr>
          <p:cNvPr id="31" name="椭圆 30">
            <a:extLst>
              <a:ext uri="{FF2B5EF4-FFF2-40B4-BE49-F238E27FC236}">
                <a16:creationId xmlns:a16="http://schemas.microsoft.com/office/drawing/2014/main" id="{3343A6FA-7C35-46DD-23AA-4CE6E0C37431}"/>
              </a:ext>
            </a:extLst>
          </p:cNvPr>
          <p:cNvSpPr/>
          <p:nvPr/>
        </p:nvSpPr>
        <p:spPr>
          <a:xfrm>
            <a:off x="3935834" y="2223143"/>
            <a:ext cx="1484851" cy="13254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叶片</a:t>
            </a:r>
            <a:endParaRPr lang="en-US" altLang="zh-CN" sz="2000" b="1" dirty="0"/>
          </a:p>
          <a:p>
            <a:pPr algn="ctr"/>
            <a:r>
              <a:rPr lang="zh-CN" altLang="en-US" sz="2000" b="1" dirty="0"/>
              <a:t>设计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4BABB59C-A186-292D-2FF9-D4717E4DED44}"/>
              </a:ext>
            </a:extLst>
          </p:cNvPr>
          <p:cNvSpPr/>
          <p:nvPr/>
        </p:nvSpPr>
        <p:spPr>
          <a:xfrm>
            <a:off x="3935835" y="3565520"/>
            <a:ext cx="1484851" cy="13254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风力机</a:t>
            </a:r>
            <a:endParaRPr lang="en-US" altLang="zh-CN" sz="2000" b="1" dirty="0"/>
          </a:p>
          <a:p>
            <a:pPr algn="ctr"/>
            <a:r>
              <a:rPr lang="zh-CN" altLang="en-US" sz="2000" b="1" dirty="0"/>
              <a:t>设计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AF8B9AC-561D-F74C-AF63-B847E67E5731}"/>
              </a:ext>
            </a:extLst>
          </p:cNvPr>
          <p:cNvSpPr/>
          <p:nvPr/>
        </p:nvSpPr>
        <p:spPr>
          <a:xfrm>
            <a:off x="5346586" y="2834530"/>
            <a:ext cx="1484851" cy="13254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算法</a:t>
            </a:r>
            <a:endParaRPr lang="en-US" altLang="zh-CN" sz="2000" b="1" dirty="0"/>
          </a:p>
          <a:p>
            <a:pPr algn="ctr"/>
            <a:r>
              <a:rPr lang="zh-CN" altLang="en-US" sz="2000" b="1" dirty="0"/>
              <a:t>调研</a:t>
            </a:r>
            <a:endParaRPr lang="en-US" altLang="zh-CN" sz="2000" b="1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EA3A8EE-213C-DA9D-421D-61D03EEEBDB9}"/>
              </a:ext>
            </a:extLst>
          </p:cNvPr>
          <p:cNvCxnSpPr>
            <a:cxnSpLocks/>
          </p:cNvCxnSpPr>
          <p:nvPr/>
        </p:nvCxnSpPr>
        <p:spPr>
          <a:xfrm flipH="1" flipV="1">
            <a:off x="3607266" y="2307100"/>
            <a:ext cx="395681" cy="3187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0E7D917E-14AD-707C-86CD-24463D563D04}"/>
              </a:ext>
            </a:extLst>
          </p:cNvPr>
          <p:cNvCxnSpPr>
            <a:cxnSpLocks/>
          </p:cNvCxnSpPr>
          <p:nvPr/>
        </p:nvCxnSpPr>
        <p:spPr>
          <a:xfrm flipH="1">
            <a:off x="3677174" y="4538841"/>
            <a:ext cx="397079" cy="3521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89491BA-B5EB-8075-9422-CDD302B397E1}"/>
              </a:ext>
            </a:extLst>
          </p:cNvPr>
          <p:cNvCxnSpPr>
            <a:cxnSpLocks/>
          </p:cNvCxnSpPr>
          <p:nvPr/>
        </p:nvCxnSpPr>
        <p:spPr>
          <a:xfrm flipV="1">
            <a:off x="6455333" y="2567031"/>
            <a:ext cx="376104" cy="4046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2889B49D-D25F-9197-9DC3-63724B61C8B2}"/>
              </a:ext>
            </a:extLst>
          </p:cNvPr>
          <p:cNvSpPr txBox="1"/>
          <p:nvPr/>
        </p:nvSpPr>
        <p:spPr>
          <a:xfrm>
            <a:off x="223706" y="1643853"/>
            <a:ext cx="3850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Small Wind Turbine Blade Design and Optimization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4F01F2C-8707-8559-D7B6-D122DF8A2CB8}"/>
              </a:ext>
            </a:extLst>
          </p:cNvPr>
          <p:cNvSpPr txBox="1"/>
          <p:nvPr/>
        </p:nvSpPr>
        <p:spPr>
          <a:xfrm>
            <a:off x="223706" y="4907958"/>
            <a:ext cx="4043493" cy="1754326"/>
          </a:xfrm>
          <a:prstGeom prst="rect">
            <a:avLst/>
          </a:prstGeom>
          <a:noFill/>
          <a:ln>
            <a:solidFill>
              <a:srgbClr val="D4D4D4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/>
              <a:t>《</a:t>
            </a:r>
            <a:r>
              <a:rPr lang="zh-CN" altLang="en-US" dirty="0"/>
              <a:t>升阻复合型垂直轴风力机的自启动性能和稳态 性能的数值分析</a:t>
            </a:r>
            <a:r>
              <a:rPr lang="en-US" altLang="zh-CN" dirty="0"/>
              <a:t>》</a:t>
            </a:r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https://makerworld.com/zh/models/677318-vertical-wind-turbine-darrieus#profileId-1548045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B21739E-0E12-B935-AA29-B8941885BEFA}"/>
              </a:ext>
            </a:extLst>
          </p:cNvPr>
          <p:cNvSpPr txBox="1"/>
          <p:nvPr/>
        </p:nvSpPr>
        <p:spPr>
          <a:xfrm>
            <a:off x="7055989" y="1643853"/>
            <a:ext cx="4043493" cy="3416320"/>
          </a:xfrm>
          <a:prstGeom prst="rect">
            <a:avLst/>
          </a:prstGeom>
          <a:noFill/>
          <a:ln>
            <a:solidFill>
              <a:srgbClr val="D4D4D4"/>
            </a:solidFill>
          </a:ln>
        </p:spPr>
        <p:txBody>
          <a:bodyPr wrap="square" rtlCol="0">
            <a:spAutoFit/>
          </a:bodyPr>
          <a:lstStyle/>
          <a:p>
            <a:pPr marL="342900" lvl="0" indent="-342900">
              <a:buAutoNum type="arabicPeriod"/>
            </a:pPr>
            <a:r>
              <a:rPr lang="en-US" altLang="zh-CN" dirty="0"/>
              <a:t>A review of MPPT techniques for wind energy systems : Offshore Challenges and Solutions </a:t>
            </a:r>
          </a:p>
          <a:p>
            <a:pPr marL="342900" lvl="0" indent="-342900">
              <a:buAutoNum type="arabicPeriod"/>
            </a:pPr>
            <a:endParaRPr lang="en-US" altLang="zh-CN" dirty="0"/>
          </a:p>
          <a:p>
            <a:pPr marL="342900" indent="-342900">
              <a:buFontTx/>
              <a:buAutoNum type="arabicPeriod"/>
            </a:pPr>
            <a:r>
              <a:rPr lang="en-US" altLang="zh-CN" dirty="0"/>
              <a:t>Comparative analysis of MPPT techniques for enhancing a wind energy conversion system</a:t>
            </a:r>
          </a:p>
          <a:p>
            <a:pPr marL="342900" indent="-342900">
              <a:buFontTx/>
              <a:buAutoNum type="arabicPeriod"/>
            </a:pPr>
            <a:endParaRPr lang="zh-CN" altLang="zh-CN" dirty="0"/>
          </a:p>
          <a:p>
            <a:pPr marL="342900" lvl="0" indent="-342900">
              <a:buAutoNum type="arabicPeriod"/>
            </a:pPr>
            <a:r>
              <a:rPr lang="en-US" altLang="zh-CN" dirty="0"/>
              <a:t>A Novel Hybrid MPPT for Wind Energy Conversion Systems Operating under Low Variations in Wind Speed</a:t>
            </a:r>
          </a:p>
        </p:txBody>
      </p:sp>
    </p:spTree>
    <p:extLst>
      <p:ext uri="{BB962C8B-B14F-4D97-AF65-F5344CB8AC3E}">
        <p14:creationId xmlns:p14="http://schemas.microsoft.com/office/powerpoint/2010/main" val="2619882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5805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984658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03122" y="405580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18927" y="2399421"/>
            <a:ext cx="675414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1C488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感谢聆听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5401597" y="3738717"/>
            <a:ext cx="13888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简洁毕业答辩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20433070866142,&quot;left&quot;:150.25850393700787,&quot;top&quot;:244.501968503937,&quot;width&quot;:712.866456692913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20433070866142,&quot;left&quot;:150.25850393700787,&quot;top&quot;:244.501968503937,&quot;width&quot;:712.866456692913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20433070866142,&quot;left&quot;:150.25850393700787,&quot;top&quot;:244.501968503937,&quot;width&quot;:712.866456692913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20433070866142,&quot;left&quot;:150.25850393700787,&quot;top&quot;:244.501968503937,&quot;width&quot;:712.866456692913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20433070866142,&quot;left&quot;:150.25850393700787,&quot;top&quot;:244.501968503937,&quot;width&quot;:712.866456692913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20433070866142,&quot;left&quot;:150.25850393700787,&quot;top&quot;:244.501968503937,&quot;width&quot;:712.866456692913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20433070866142,&quot;left&quot;:150.25850393700787,&quot;top&quot;:244.501968503937,&quot;width&quot;:712.866456692913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20433070866142,&quot;left&quot;:150.25850393700787,&quot;top&quot;:244.501968503937,&quot;width&quot;:712.866456692913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6.4317322834646,&quot;top&quot;:92.04165354330708,&quot;width&quot;:434.968188976378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5.8317322834646,&quot;top&quot;:96.29165354330708,&quot;width&quot;:434.968188976378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5.8317322834646,&quot;top&quot;:96.29165354330708,&quot;width&quot;:434.968188976378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5.8317322834646,&quot;top&quot;:96.29165354330708,&quot;width&quot;:434.968188976378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6.4317322834646,&quot;top&quot;:92.04165354330708,&quot;width&quot;:434.968188976378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6.4317322834646,&quot;top&quot;:92.04165354330708,&quot;width&quot;:434.968188976378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5.8317322834646,&quot;top&quot;:96.29165354330708,&quot;width&quot;:434.968188976378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5.8317322834646,&quot;top&quot;:96.29165354330708,&quot;width&quot;:434.9681889763782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5.8317322834646,&quot;top&quot;:96.29165354330708,&quot;width&quot;:434.9681889763782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5.8317322834646,&quot;top&quot;:96.29165354330708,&quot;width&quot;:434.9681889763782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5.8317322834646,&quot;top&quot;:96.29165354330708,&quot;width&quot;:434.9681889763782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5.8317322834646,&quot;top&quot;:96.29165354330708,&quot;width&quot;:434.9681889763782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5.8317322834646,&quot;top&quot;:96.29165354330708,&quot;width&quot;:434.9681889763782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5.8317322834646,&quot;top&quot;:96.29165354330708,&quot;width&quot;:434.9681889763782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5.8317322834646,&quot;top&quot;:96.29165354330708,&quot;width&quot;:434.968188976378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5.8317322834646,&quot;top&quot;:96.29165354330708,&quot;width&quot;:434.9681889763782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5.8317322834646,&quot;top&quot;:96.29165354330708,&quot;width&quot;:434.9681889763782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40047244094495,&quot;left&quot;:485.8317322834646,&quot;top&quot;:96.29165354330708,&quot;width&quot;:434.9681889763782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79348898288265,&quot;left&quot;:96.19047244094489,&quot;top&quot;:130.34191692588152,&quot;width&quot;:755.197795275590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79348898288265,&quot;left&quot;:96.19047244094489,&quot;top&quot;:130.34191692588152,&quot;width&quot;:755.197795275590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79348898288265,&quot;left&quot;:96.19047244094489,&quot;top&quot;:130.34191692588152,&quot;width&quot;:755.197795275590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79348898288265,&quot;left&quot;:96.19047244094489,&quot;top&quot;:130.34191692588152,&quot;width&quot;:755.197795275590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79348898288265,&quot;left&quot;:96.19047244094489,&quot;top&quot;:130.34191692588152,&quot;width&quot;:755.197795275590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79348898288265,&quot;left&quot;:96.19047244094489,&quot;top&quot;:130.34191692588152,&quot;width&quot;:755.197795275590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79348898288265,&quot;left&quot;:96.19047244094489,&quot;top&quot;:130.34191692588152,&quot;width&quot;:755.197795275590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79348898288265,&quot;left&quot;:96.19047244094489,&quot;top&quot;:130.34191692588152,&quot;width&quot;:755.197795275590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79348898288265,&quot;left&quot;:96.19047244094489,&quot;top&quot;:130.34191692588152,&quot;width&quot;:755.197795275590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79348898288265,&quot;left&quot;:96.19047244094489,&quot;top&quot;:130.34191692588152,&quot;width&quot;:755.197795275590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79348898288265,&quot;left&quot;:96.19047244094489,&quot;top&quot;:130.34191692588152,&quot;width&quot;:755.197795275590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79348898288265,&quot;left&quot;:96.19047244094489,&quot;top&quot;:130.34191692588152,&quot;width&quot;:755.1977952755906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79348898288265,&quot;left&quot;:96.19047244094489,&quot;top&quot;:130.34191692588152,&quot;width&quot;:755.197795275590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79348898288265,&quot;left&quot;:96.19047244094489,&quot;top&quot;:130.34191692588152,&quot;width&quot;:755.197795275590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79348898288265,&quot;left&quot;:96.19047244094489,&quot;top&quot;:130.34191692588152,&quot;width&quot;:755.197795275590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79348898288265,&quot;left&quot;:96.19047244094489,&quot;top&quot;:130.34191692588152,&quot;width&quot;:755.197795275590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6475590551181,&quot;left&quot;:195.48566929133858,&quot;top&quot;:130.0859842519685,&quot;width&quot;:575.050157480315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6475590551181,&quot;left&quot;:195.48566929133858,&quot;top&quot;:130.0859842519685,&quot;width&quot;:575.050157480315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6475590551181,&quot;left&quot;:195.48566929133858,&quot;top&quot;:130.0859842519685,&quot;width&quot;:575.05015748031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6475590551181,&quot;left&quot;:195.48566929133858,&quot;top&quot;:130.0859842519685,&quot;width&quot;:575.05015748031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6475590551181,&quot;left&quot;:195.48566929133858,&quot;top&quot;:130.0859842519685,&quot;width&quot;:575.050157480315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6475590551181,&quot;left&quot;:195.48566929133858,&quot;top&quot;:130.0859842519685,&quot;width&quot;:575.050157480315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6475590551181,&quot;left&quot;:195.48566929133858,&quot;top&quot;:130.0859842519685,&quot;width&quot;:575.050157480315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6475590551181,&quot;left&quot;:195.48566929133858,&quot;top&quot;:130.0859842519685,&quot;width&quot;:575.050157480315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6475590551181,&quot;left&quot;:195.48566929133858,&quot;top&quot;:130.0859842519685,&quot;width&quot;:575.050157480315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6475590551181,&quot;left&quot;:195.48566929133858,&quot;top&quot;:130.0859842519685,&quot;width&quot;:575.050157480315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6475590551181,&quot;left&quot;:195.48566929133858,&quot;top&quot;:130.0859842519685,&quot;width&quot;:575.050157480315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6475590551181,&quot;left&quot;:195.48566929133858,&quot;top&quot;:130.0859842519685,&quot;width&quot;:575.050157480315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6475590551181,&quot;left&quot;:195.48566929133858,&quot;top&quot;:130.0859842519685,&quot;width&quot;:575.050157480315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36354330708656,&quot;left&quot;:80.99566929133859,&quot;top&quot;:103.24858267716536,&quot;width&quot;:364.76866141732285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36354330708656,&quot;left&quot;:80.99566929133859,&quot;top&quot;:103.24858267716536,&quot;width&quot;:364.76866141732285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36354330708656,&quot;left&quot;:80.99566929133859,&quot;top&quot;:103.24858267716536,&quot;width&quot;:364.76866141732285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36354330708656,&quot;left&quot;:80.99566929133859,&quot;top&quot;:103.24858267716536,&quot;width&quot;:364.76866141732285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36354330708656,&quot;left&quot;:80.99566929133859,&quot;top&quot;:103.24858267716536,&quot;width&quot;:364.76866141732285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36354330708656,&quot;left&quot;:80.99566929133859,&quot;top&quot;:103.24858267716536,&quot;width&quot;:364.76866141732285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36354330708656,&quot;left&quot;:80.99566929133859,&quot;top&quot;:103.24858267716536,&quot;width&quot;:364.76866141732285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36354330708656,&quot;left&quot;:80.99566929133859,&quot;top&quot;:103.24858267716536,&quot;width&quot;:364.76866141732285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36354330708656,&quot;left&quot;:80.99566929133859,&quot;top&quot;:103.24858267716536,&quot;width&quot;:364.76866141732285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36354330708656,&quot;left&quot;:80.99566929133859,&quot;top&quot;:103.24858267716536,&quot;width&quot;:364.76866141732285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36354330708656,&quot;left&quot;:80.99566929133859,&quot;top&quot;:103.24858267716536,&quot;width&quot;:364.76866141732285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36354330708656,&quot;left&quot;:80.99566929133859,&quot;top&quot;:103.24858267716536,&quot;width&quot;:364.76866141732285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408445473713,&quot;left&quot;:126.29826771653543,&quot;top&quot;:38.53191135814045,&quot;width&quot;:756.2311811023621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js3og5w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748</Words>
  <Application>Microsoft Office PowerPoint</Application>
  <PresentationFormat>宽屏</PresentationFormat>
  <Paragraphs>116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微软雅黑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</dc:title>
  <dc:subject>PPT</dc:subject>
  <dc:creator>administrator</dc:creator>
  <cp:keywords>PPT</cp:keywords>
  <dc:description>PPT</dc:description>
  <cp:lastModifiedBy>peipei ding</cp:lastModifiedBy>
  <cp:revision>29</cp:revision>
  <dcterms:created xsi:type="dcterms:W3CDTF">2018-02-27T12:12:00Z</dcterms:created>
  <dcterms:modified xsi:type="dcterms:W3CDTF">2026-04-16T10:37:59Z</dcterms:modified>
  <cp:category>PPT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B151469738074BDA9B16AF6FA833CFD6_13</vt:lpwstr>
  </property>
  <property fmtid="{D5CDD505-2E9C-101B-9397-08002B2CF9AE}" pid="3" name="KSOProductBuildVer">
    <vt:lpwstr>2052-12.1.0.24657</vt:lpwstr>
  </property>
</Properties>
</file>